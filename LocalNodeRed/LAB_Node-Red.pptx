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305" r:id="rId3"/>
    <p:sldId id="364" r:id="rId4"/>
    <p:sldId id="317" r:id="rId5"/>
    <p:sldId id="332" r:id="rId6"/>
    <p:sldId id="316" r:id="rId7"/>
    <p:sldId id="361" r:id="rId8"/>
    <p:sldId id="362" r:id="rId9"/>
    <p:sldId id="351" r:id="rId10"/>
    <p:sldId id="368" r:id="rId11"/>
    <p:sldId id="367" r:id="rId12"/>
    <p:sldId id="366" r:id="rId13"/>
    <p:sldId id="320" r:id="rId14"/>
    <p:sldId id="339" r:id="rId15"/>
    <p:sldId id="355" r:id="rId16"/>
    <p:sldId id="352" r:id="rId17"/>
    <p:sldId id="369" r:id="rId18"/>
    <p:sldId id="319" r:id="rId19"/>
    <p:sldId id="359" r:id="rId20"/>
    <p:sldId id="371" r:id="rId21"/>
    <p:sldId id="336" r:id="rId22"/>
    <p:sldId id="337" r:id="rId23"/>
    <p:sldId id="281" r:id="rId24"/>
    <p:sldId id="363" r:id="rId25"/>
    <p:sldId id="370" r:id="rId26"/>
    <p:sldId id="347" r:id="rId27"/>
    <p:sldId id="348" r:id="rId28"/>
    <p:sldId id="349" r:id="rId29"/>
    <p:sldId id="341" r:id="rId30"/>
    <p:sldId id="354" r:id="rId31"/>
    <p:sldId id="356" r:id="rId32"/>
    <p:sldId id="340" r:id="rId33"/>
    <p:sldId id="343" r:id="rId34"/>
    <p:sldId id="344" r:id="rId35"/>
    <p:sldId id="345" r:id="rId36"/>
    <p:sldId id="346" r:id="rId37"/>
    <p:sldId id="353" r:id="rId3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B0ED477-B256-4334-929B-2CCDEC57B71F}">
          <p14:sldIdLst>
            <p14:sldId id="256"/>
            <p14:sldId id="305"/>
            <p14:sldId id="364"/>
            <p14:sldId id="317"/>
            <p14:sldId id="332"/>
            <p14:sldId id="316"/>
            <p14:sldId id="361"/>
            <p14:sldId id="362"/>
            <p14:sldId id="351"/>
            <p14:sldId id="368"/>
            <p14:sldId id="367"/>
            <p14:sldId id="366"/>
            <p14:sldId id="320"/>
            <p14:sldId id="339"/>
            <p14:sldId id="355"/>
            <p14:sldId id="352"/>
            <p14:sldId id="369"/>
            <p14:sldId id="319"/>
            <p14:sldId id="359"/>
            <p14:sldId id="371"/>
            <p14:sldId id="336"/>
            <p14:sldId id="337"/>
            <p14:sldId id="281"/>
            <p14:sldId id="363"/>
            <p14:sldId id="370"/>
          </p14:sldIdLst>
        </p14:section>
        <p14:section name="Network protocols" id="{79836DD0-DB6D-4348-B1AA-93EF77F63A33}">
          <p14:sldIdLst>
            <p14:sldId id="347"/>
            <p14:sldId id="348"/>
            <p14:sldId id="349"/>
            <p14:sldId id="341"/>
            <p14:sldId id="354"/>
            <p14:sldId id="356"/>
            <p14:sldId id="340"/>
            <p14:sldId id="343"/>
            <p14:sldId id="344"/>
            <p14:sldId id="345"/>
            <p14:sldId id="346"/>
            <p14:sldId id="3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00" autoAdjust="0"/>
    <p:restoredTop sz="79930" autoAdjust="0"/>
  </p:normalViewPr>
  <p:slideViewPr>
    <p:cSldViewPr>
      <p:cViewPr varScale="1">
        <p:scale>
          <a:sx n="88" d="100"/>
          <a:sy n="88" d="100"/>
        </p:scale>
        <p:origin x="235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E05EF-D04D-4890-9869-51B2384554B6}" type="datetimeFigureOut">
              <a:rPr lang="ru-RU" smtClean="0"/>
              <a:pPr/>
              <a:t>27.02.2026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EEBA99-D713-4408-BFB8-4CEC06E6577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4274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2624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30325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418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36758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6704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4367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MQTT uses </a:t>
            </a:r>
            <a:r>
              <a:rPr 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Publish/Subscribe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 or pattern. Publishers publish messages.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Subscribers receive messages if they have subscribed to the same. 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publishers and subscribers don't communicate to each other directly.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 an intermediate central </a:t>
            </a:r>
            <a:r>
              <a:rPr 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Broker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mediates in between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publisher and subscribers don't need to know each other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are not dependent on each other for initialization and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synchronisation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Broker filters all incoming messages and distributes them to subscribers accordingly. Publishers and subscribers are also called </a:t>
            </a:r>
            <a:r>
              <a:rPr 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Clients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 delivery is one-to-many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can scale with respect to subscribers without burdening publishers.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Handle abnormal client disconnection: Using what is called </a:t>
            </a:r>
            <a:r>
              <a:rPr 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Last Will and Testament (LWT)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if a client is not sending anything for some time, broker will automatically publish a message. For example, this can be useful to inform subscribers that an 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IoT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device (publisher) is not reachable.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Retained messages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last published message (with retained flag set to true) is stored at the broker so that new subscribers can immediately obtain </a:t>
            </a:r>
            <a:r>
              <a:rPr lang="en-US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last known good value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rather than wait for the next update from publisher.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 smtClean="0"/>
          </a:p>
          <a:p>
            <a:pPr marL="171450" indent="-171450">
              <a:buFont typeface="Calibri" panose="020F0502020204030204" pitchFamily="34" charset="0"/>
              <a:buChar char="―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structure of the published data is not known to the subscriber.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information should be shared or known beforehand. When topic-based filtering is used, publisher and subscribers must know the right topics to use.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Calibri" panose="020F0502020204030204" pitchFamily="34" charset="0"/>
              <a:buChar char="―"/>
            </a:pPr>
            <a:r>
              <a:rPr lang="en-US" dirty="0" smtClean="0"/>
              <a:t>The delivery of a message is not confirmed as there is no automatic confirmation from the recipient. Moreover, the publisher also does not know if there are any subscribers</a:t>
            </a:r>
            <a:r>
              <a:rPr lang="ru-RU" dirty="0" smtClean="0"/>
              <a:t>.</a:t>
            </a:r>
          </a:p>
          <a:p>
            <a:pPr marL="171450" indent="-171450">
              <a:buFont typeface="Calibri" panose="020F0502020204030204" pitchFamily="34" charset="0"/>
              <a:buChar char="―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MQTT uses </a:t>
            </a:r>
            <a:r>
              <a:rPr lang="en-US" dirty="0" smtClean="0"/>
              <a:t>TCP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needs complex handshaking and is not easy on memory and power requirements. Standard states that </a:t>
            </a:r>
            <a:r>
              <a:rPr lang="en-US" dirty="0" smtClean="0"/>
              <a:t>TCP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suitable transport and </a:t>
            </a:r>
            <a:r>
              <a:rPr lang="en-US" dirty="0" smtClean="0"/>
              <a:t>UDP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not. MQTT can also use </a:t>
            </a:r>
            <a:r>
              <a:rPr lang="en-US" dirty="0" smtClean="0"/>
              <a:t>TLS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 WebSocket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Calibri" panose="020F0502020204030204" pitchFamily="34" charset="0"/>
              <a:buChar char="―"/>
            </a:pPr>
            <a:r>
              <a:rPr lang="en-US" dirty="0" smtClean="0"/>
              <a:t>Broker is centralized. This is not only a single point of failure but also can limit scalability. However, real-world implementations overcome this by managing a distributed broker cluster that clients see as a single logical broker. Examples of such cluster implementations are </a:t>
            </a:r>
            <a:r>
              <a:rPr lang="en-US" dirty="0" err="1" smtClean="0"/>
              <a:t>HiveMQ</a:t>
            </a:r>
            <a:r>
              <a:rPr lang="en-US" dirty="0" smtClean="0"/>
              <a:t>, </a:t>
            </a:r>
            <a:r>
              <a:rPr lang="en-US" dirty="0" err="1" smtClean="0"/>
              <a:t>VerneMQ</a:t>
            </a:r>
            <a:r>
              <a:rPr lang="en-US" dirty="0" smtClean="0"/>
              <a:t>, and EMQ</a:t>
            </a:r>
            <a:r>
              <a:rPr lang="ru-RU" dirty="0" smtClean="0"/>
              <a:t>.</a:t>
            </a:r>
          </a:p>
          <a:p>
            <a:pPr marL="171450" indent="-171450">
              <a:buFont typeface="Calibri" panose="020F0502020204030204" pitchFamily="34" charset="0"/>
              <a:buChar char="―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MQTT has no built-in security. Developers need to implement security on their own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US" dirty="0" smtClean="0"/>
              <a:t>TLS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dirty="0" smtClean="0"/>
              <a:t>SSL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security and payload encryption can be used. The </a:t>
            </a:r>
            <a:r>
              <a:rPr lang="en-US" dirty="0" smtClean="0"/>
              <a:t>IANA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has assigned port 8883 for MQTT over </a:t>
            </a:r>
            <a:r>
              <a:rPr lang="en-US" dirty="0" smtClean="0"/>
              <a:t>SSL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or secure MQTT over </a:t>
            </a:r>
            <a:r>
              <a:rPr lang="en-US" dirty="0" smtClean="0"/>
              <a:t>TCP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dirty="0" smtClean="0"/>
              <a:t>UDP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Incidentally, port 1883 is for MQTT over </a:t>
            </a:r>
            <a:r>
              <a:rPr lang="en-US" dirty="0" smtClean="0"/>
              <a:t>TCP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dirty="0" smtClean="0"/>
              <a:t>UDP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We should note that </a:t>
            </a:r>
            <a:r>
              <a:rPr lang="en-US" dirty="0" smtClean="0"/>
              <a:t>SSL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not exactly lightweight and adds significant overhead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indent="0">
              <a:buFont typeface="Calibri" panose="020F0502020204030204" pitchFamily="34" charset="0"/>
              <a:buNone/>
            </a:pPr>
            <a:endParaRPr lang="en-US" dirty="0" smtClean="0"/>
          </a:p>
          <a:p>
            <a:pPr marL="0" indent="0">
              <a:buFont typeface="Calibri" panose="020F0502020204030204" pitchFamily="34" charset="0"/>
              <a:buNone/>
            </a:pPr>
            <a:endParaRPr lang="en-US" dirty="0" smtClean="0"/>
          </a:p>
          <a:p>
            <a:pPr>
              <a:lnSpc>
                <a:spcPct val="150000"/>
              </a:lnSpc>
            </a:pPr>
            <a:r>
              <a:rPr lang="en-US" sz="1200" dirty="0" smtClean="0"/>
              <a:t>MQTT clients for testing:</a:t>
            </a:r>
          </a:p>
          <a:p>
            <a:pPr>
              <a:lnSpc>
                <a:spcPct val="150000"/>
              </a:lnSpc>
            </a:pPr>
            <a:r>
              <a:rPr lang="en-US" sz="1200" dirty="0" err="1" smtClean="0"/>
              <a:t>MQTT.fx</a:t>
            </a:r>
            <a:r>
              <a:rPr lang="en-US" sz="1200" dirty="0" smtClean="0"/>
              <a:t>, </a:t>
            </a:r>
            <a:r>
              <a:rPr lang="en-US" sz="1200" dirty="0" err="1" smtClean="0"/>
              <a:t>MQTTLens</a:t>
            </a:r>
            <a:r>
              <a:rPr lang="en-US" sz="1200" dirty="0" smtClean="0"/>
              <a:t> (desktop)</a:t>
            </a:r>
          </a:p>
          <a:p>
            <a:pPr>
              <a:lnSpc>
                <a:spcPct val="150000"/>
              </a:lnSpc>
            </a:pPr>
            <a:r>
              <a:rPr lang="en-US" sz="1200" dirty="0" smtClean="0"/>
              <a:t>MQTT Dashboard, MQTT Dash, </a:t>
            </a:r>
            <a:r>
              <a:rPr lang="en-US" sz="1200" dirty="0" err="1" smtClean="0"/>
              <a:t>MQTTool</a:t>
            </a:r>
            <a:r>
              <a:rPr lang="en-US" sz="1200" dirty="0" smtClean="0"/>
              <a:t> </a:t>
            </a:r>
          </a:p>
          <a:p>
            <a:pPr>
              <a:lnSpc>
                <a:spcPct val="150000"/>
              </a:lnSpc>
            </a:pPr>
            <a:endParaRPr lang="en-US" sz="1200" dirty="0" smtClean="0"/>
          </a:p>
          <a:p>
            <a:endParaRPr lang="en-US" b="1" dirty="0" smtClean="0"/>
          </a:p>
          <a:p>
            <a:endParaRPr lang="en-US" b="1" dirty="0" smtClean="0"/>
          </a:p>
          <a:p>
            <a:endParaRPr lang="en-US" b="1" dirty="0" smtClean="0"/>
          </a:p>
          <a:p>
            <a:r>
              <a:rPr lang="en-US" b="1" dirty="0" smtClean="0"/>
              <a:t> </a:t>
            </a:r>
          </a:p>
          <a:p>
            <a:pPr marL="0" indent="0">
              <a:buFont typeface="Calibri" panose="020F050202020403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76563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18007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62357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2583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579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6707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3874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04742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51934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smtClean="0"/>
              <a:t>HTTP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not suitable for small data packets typical in </a:t>
            </a:r>
            <a:r>
              <a:rPr lang="en-US" dirty="0" err="1" smtClean="0"/>
              <a:t>IoT</a:t>
            </a:r>
            <a:r>
              <a:rPr lang="ru-RU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smtClean="0"/>
              <a:t>HTTP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document-centric whereas MQTT is data-centric. </a:t>
            </a:r>
            <a:r>
              <a:rPr lang="en-US" dirty="0" smtClean="0"/>
              <a:t>HTTP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complex protocol. It's textual and therefore parsing </a:t>
            </a:r>
            <a:r>
              <a:rPr lang="en-US" dirty="0" smtClean="0"/>
              <a:t>HTTP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not trivial. 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MQTT is binary and encoding/decoding MQTT packets is a lot easier.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 of its publish-subscribe model, data distribution is one-to-many in MQTT whereas in </a:t>
            </a:r>
            <a:r>
              <a:rPr lang="en-US" dirty="0" smtClean="0"/>
              <a:t>HTTP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it's limited to one-to-one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MQTT uses less battery power, can send more messages per hour and send them more reliably than HTTPS.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MQTT uses more battery power to initiate a connection but this quickly compensated by gains as the connection stays open longer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926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EEBA99-D713-4408-BFB8-4CEC06E65773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3168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8743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</a:lstStyle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7223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3729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106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09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6128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77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461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8603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9436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9335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0865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5000"/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Introduction to IoT, 2026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819BB-C1B6-471B-B407-D4767523BC2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504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png"/><Relationship Id="rId4" Type="http://schemas.openxmlformats.org/officeDocument/2006/relationships/hyperlink" Target="https://flows.nodered.org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red.org/docs/getting-started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example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httpbin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curl.se/docs/manpage.html" TargetMode="External"/><Relationship Id="rId4" Type="http://schemas.openxmlformats.org/officeDocument/2006/relationships/hyperlink" Target="https://www.example.com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xamp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hivemq.com/" TargetMode="External"/><Relationship Id="rId4" Type="http://schemas.openxmlformats.org/officeDocument/2006/relationships/hyperlink" Target="https://www.switchdoc.com/2020/01/tutorial-using-mqtt-on-switchdoc-labs-ourweather-station/mqtt-architecture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opedia.org/mqt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itialstate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ubidots.com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example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ows.nodered.org/" TargetMode="External"/><Relationship Id="rId2" Type="http://schemas.openxmlformats.org/officeDocument/2006/relationships/hyperlink" Target="https://nbdime.readthedocs.io/en/latest/nodevenv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owfuse.com/node-red/learn/" TargetMode="External"/><Relationship Id="rId5" Type="http://schemas.openxmlformats.org/officeDocument/2006/relationships/hyperlink" Target="https://curl.se/docs/manpage.html" TargetMode="External"/><Relationship Id="rId4" Type="http://schemas.openxmlformats.org/officeDocument/2006/relationships/hyperlink" Target="https://httpbin.org/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etworkaffairs.wordpress.com/2013/10/24/the-osi-model-broken-down-into-fragments-and-the-headers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httpbin.org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httpbin.org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curl.se/docs/manpage.html" TargetMode="External"/><Relationship Id="rId4" Type="http://schemas.openxmlformats.org/officeDocument/2006/relationships/hyperlink" Target="https://www.example.com/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LAB</a:t>
            </a:r>
            <a:br>
              <a:rPr lang="en-US" dirty="0" smtClean="0"/>
            </a:br>
            <a:r>
              <a:rPr lang="en-US" dirty="0" smtClean="0"/>
              <a:t>IOT </a:t>
            </a:r>
            <a:r>
              <a:rPr lang="en-US" dirty="0"/>
              <a:t>C</a:t>
            </a:r>
            <a:r>
              <a:rPr lang="en-US" dirty="0" smtClean="0"/>
              <a:t>loud Platforms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Mohammed </a:t>
            </a:r>
            <a:r>
              <a:rPr lang="en-US" dirty="0"/>
              <a:t>Hammoud</a:t>
            </a:r>
            <a:endParaRPr lang="ru-RU" dirty="0"/>
          </a:p>
          <a:p>
            <a:r>
              <a:rPr lang="en-US" dirty="0" smtClean="0"/>
              <a:t>Prof. Anton Stepanov</a:t>
            </a:r>
          </a:p>
          <a:p>
            <a:r>
              <a:rPr lang="en-US" dirty="0"/>
              <a:t>Prof. Andrey Somov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193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064" y="3621643"/>
            <a:ext cx="4619625" cy="2105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19087" y="1295400"/>
            <a:ext cx="85058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Flow-programming: Exchange data across predefined connections by message passing</a:t>
            </a:r>
            <a:r>
              <a:rPr lang="en-US" sz="2000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sz="2000" dirty="0"/>
              <a:t>	</a:t>
            </a:r>
            <a:r>
              <a:rPr lang="en-US" sz="2000" dirty="0" smtClean="0"/>
              <a:t>Examples: </a:t>
            </a:r>
            <a:r>
              <a:rPr lang="en-US" sz="2000" dirty="0" err="1" smtClean="0"/>
              <a:t>Matlab</a:t>
            </a:r>
            <a:r>
              <a:rPr lang="en-US" sz="2000" dirty="0" smtClean="0"/>
              <a:t> Simulink, LabVIEW, Node-Red.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ru-RU" sz="2800" dirty="0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/>
              <a:t>Flow-programming</a:t>
            </a:r>
            <a:endParaRPr lang="ru-RU" dirty="0"/>
          </a:p>
        </p:txBody>
      </p:sp>
      <p:sp>
        <p:nvSpPr>
          <p:cNvPr id="2" name="Rectangle 1"/>
          <p:cNvSpPr/>
          <p:nvPr/>
        </p:nvSpPr>
        <p:spPr>
          <a:xfrm>
            <a:off x="228600" y="5802868"/>
            <a:ext cx="27740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4"/>
              </a:rPr>
              <a:t>https://flows.nodered.org</a:t>
            </a:r>
            <a:r>
              <a:rPr lang="en-US" dirty="0" smtClean="0">
                <a:hlinkClick r:id="rId4"/>
              </a:rPr>
              <a:t>/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5775" y="3094729"/>
            <a:ext cx="3223733" cy="12514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7200" y="4146700"/>
            <a:ext cx="3766800" cy="19493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9064" y="3621643"/>
            <a:ext cx="4681536" cy="21050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Introduction to </a:t>
            </a:r>
            <a:r>
              <a:rPr lang="en-US" dirty="0" err="1" smtClean="0"/>
              <a:t>IoT</a:t>
            </a:r>
            <a:r>
              <a:rPr lang="en-US" dirty="0" smtClean="0"/>
              <a:t>, 2026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942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9087" y="1295400"/>
            <a:ext cx="8505825" cy="5032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/>
              <a:t>An open-source, Browser-based </a:t>
            </a:r>
            <a:r>
              <a:rPr lang="en-US" sz="2000" dirty="0"/>
              <a:t>flow-based </a:t>
            </a:r>
            <a:r>
              <a:rPr lang="en-US" sz="2000" dirty="0" smtClean="0"/>
              <a:t>programming </a:t>
            </a:r>
            <a:r>
              <a:rPr lang="en-US" sz="2000" dirty="0"/>
              <a:t>tool built on </a:t>
            </a:r>
            <a:r>
              <a:rPr lang="en-US" sz="2000" dirty="0" smtClean="0"/>
              <a:t>Node.js.</a:t>
            </a:r>
            <a:r>
              <a:rPr lang="en-US" sz="2000" dirty="0"/>
              <a:t> </a:t>
            </a:r>
            <a:endParaRPr lang="en-US" sz="2000" dirty="0" smtClean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/>
              <a:t>Low-code </a:t>
            </a:r>
            <a:r>
              <a:rPr lang="en-US" sz="2000" dirty="0"/>
              <a:t>programming for event-driven applications.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/>
              <a:t>Visually </a:t>
            </a:r>
            <a:r>
              <a:rPr lang="en-US" sz="2000" dirty="0"/>
              <a:t>wire together hardware devices, APIs, and online </a:t>
            </a:r>
            <a:r>
              <a:rPr lang="en-US" sz="2000" dirty="0" smtClean="0"/>
              <a:t>services.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/>
              <a:t>Allows users </a:t>
            </a:r>
            <a:r>
              <a:rPr lang="en-US" sz="2000" dirty="0"/>
              <a:t>to create workflows (called "flows") by connecting pre-built or custom </a:t>
            </a:r>
            <a:r>
              <a:rPr lang="en-US" sz="2000" dirty="0" smtClean="0"/>
              <a:t>nodes.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/>
              <a:t>Lightweight.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E</a:t>
            </a:r>
            <a:r>
              <a:rPr lang="en-US" sz="2000" dirty="0" smtClean="0"/>
              <a:t>asy </a:t>
            </a:r>
            <a:r>
              <a:rPr lang="en-US" sz="2000" dirty="0"/>
              <a:t>to </a:t>
            </a:r>
            <a:r>
              <a:rPr lang="en-US" sz="2000" dirty="0" smtClean="0"/>
              <a:t>use and </a:t>
            </a:r>
            <a:r>
              <a:rPr lang="en-US" dirty="0" smtClean="0"/>
              <a:t>Rapid Prototyping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Scalability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Real-Time </a:t>
            </a:r>
            <a:r>
              <a:rPr lang="en-US" dirty="0"/>
              <a:t>Data </a:t>
            </a:r>
            <a:r>
              <a:rPr lang="en-US" dirty="0" smtClean="0"/>
              <a:t>Processing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Automation</a:t>
            </a:r>
            <a:endParaRPr lang="ru-RU" sz="2800" dirty="0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Node-RED</a:t>
            </a:r>
            <a:endParaRPr lang="ru-RU" dirty="0"/>
          </a:p>
        </p:txBody>
      </p:sp>
      <p:sp>
        <p:nvSpPr>
          <p:cNvPr id="9" name="Rectangle 8"/>
          <p:cNvSpPr/>
          <p:nvPr/>
        </p:nvSpPr>
        <p:spPr>
          <a:xfrm>
            <a:off x="4252912" y="4572000"/>
            <a:ext cx="4572000" cy="8803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i="1" dirty="0" smtClean="0">
                <a:solidFill>
                  <a:srgbClr val="00B050"/>
                </a:solidFill>
              </a:rPr>
              <a:t>Popular </a:t>
            </a:r>
            <a:r>
              <a:rPr lang="en-US" b="1" i="1" dirty="0">
                <a:solidFill>
                  <a:srgbClr val="00B050"/>
                </a:solidFill>
              </a:rPr>
              <a:t>choice for </a:t>
            </a:r>
            <a:r>
              <a:rPr lang="en-US" b="1" i="1" dirty="0" err="1" smtClean="0">
                <a:solidFill>
                  <a:srgbClr val="00B050"/>
                </a:solidFill>
              </a:rPr>
              <a:t>IoT</a:t>
            </a:r>
            <a:r>
              <a:rPr lang="en-US" b="1" i="1" dirty="0" smtClean="0">
                <a:solidFill>
                  <a:srgbClr val="00B050"/>
                </a:solidFill>
              </a:rPr>
              <a:t> development </a:t>
            </a:r>
            <a:r>
              <a:rPr lang="en-US" b="1" i="1" dirty="0">
                <a:solidFill>
                  <a:srgbClr val="00B050"/>
                </a:solidFill>
              </a:rPr>
              <a:t>and automation tasks.</a:t>
            </a:r>
            <a:endParaRPr lang="ru-RU" sz="2400" b="1" i="1" dirty="0">
              <a:solidFill>
                <a:srgbClr val="00B050"/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8027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Node-RED installation</a:t>
            </a:r>
            <a:endParaRPr lang="ru-RU" dirty="0"/>
          </a:p>
        </p:txBody>
      </p:sp>
      <p:sp>
        <p:nvSpPr>
          <p:cNvPr id="2" name="Rectangle 1"/>
          <p:cNvSpPr/>
          <p:nvPr/>
        </p:nvSpPr>
        <p:spPr>
          <a:xfrm>
            <a:off x="609600" y="2743200"/>
            <a:ext cx="82296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 smtClean="0"/>
              <a:t>Method1</a:t>
            </a:r>
            <a:r>
              <a:rPr lang="en-US" sz="2800" dirty="0" smtClean="0"/>
              <a:t>: local installation.</a:t>
            </a:r>
          </a:p>
          <a:p>
            <a:pPr algn="ctr">
              <a:lnSpc>
                <a:spcPct val="150000"/>
              </a:lnSpc>
            </a:pPr>
            <a:r>
              <a:rPr lang="en-US" sz="2800" dirty="0" smtClean="0"/>
              <a:t> </a:t>
            </a:r>
            <a:r>
              <a:rPr lang="en-US" sz="2800" dirty="0" smtClean="0">
                <a:hlinkClick r:id="rId2"/>
              </a:rPr>
              <a:t>https</a:t>
            </a:r>
            <a:r>
              <a:rPr lang="en-US" sz="2800" dirty="0">
                <a:hlinkClick r:id="rId2"/>
              </a:rPr>
              <a:t>://nodered.org/docs/getting-started</a:t>
            </a:r>
            <a:r>
              <a:rPr lang="en-US" sz="2800" dirty="0" smtClean="0">
                <a:hlinkClick r:id="rId2"/>
              </a:rPr>
              <a:t>/</a:t>
            </a:r>
            <a:endParaRPr lang="en-US" sz="2800" dirty="0" smtClean="0"/>
          </a:p>
          <a:p>
            <a:pPr>
              <a:lnSpc>
                <a:spcPct val="150000"/>
              </a:lnSpc>
            </a:pPr>
            <a:r>
              <a:rPr lang="en-US" sz="2800" b="1" dirty="0"/>
              <a:t>Method2: </a:t>
            </a:r>
            <a:r>
              <a:rPr lang="en-US" sz="2800" dirty="0" smtClean="0"/>
              <a:t>using virtual environment and script (follow instruction in unstruction.txt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 algn="ctr">
              <a:lnSpc>
                <a:spcPct val="150000"/>
              </a:lnSpc>
            </a:pPr>
            <a:r>
              <a:rPr lang="en-US" sz="2800" dirty="0" smtClean="0"/>
              <a:t> </a:t>
            </a:r>
            <a:endParaRPr lang="en-US" sz="28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938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 JavaScript Object </a:t>
            </a:r>
            <a:r>
              <a:rPr lang="en-US" b="1" dirty="0" smtClean="0"/>
              <a:t>Notation</a:t>
            </a:r>
            <a:r>
              <a:rPr lang="en-US" dirty="0"/>
              <a:t> </a:t>
            </a:r>
            <a:r>
              <a:rPr lang="en-US" b="1" dirty="0" smtClean="0"/>
              <a:t>(JSON)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685800" y="2819400"/>
            <a:ext cx="8229600" cy="2667000"/>
          </a:xfrm>
        </p:spPr>
        <p:txBody>
          <a:bodyPr>
            <a:noAutofit/>
          </a:bodyPr>
          <a:lstStyle/>
          <a:p>
            <a:pPr marL="398463" indent="-398463" algn="l">
              <a:buNone/>
            </a:pPr>
            <a:r>
              <a:rPr lang="en-US" sz="2800" dirty="0" smtClean="0">
                <a:solidFill>
                  <a:srgbClr val="C00000"/>
                </a:solidFill>
              </a:rPr>
              <a:t>{</a:t>
            </a:r>
            <a:r>
              <a:rPr lang="en-US" sz="2800" dirty="0" smtClean="0"/>
              <a:t> “</a:t>
            </a:r>
            <a:r>
              <a:rPr lang="en-US" sz="2800" dirty="0" err="1"/>
              <a:t>msg</a:t>
            </a:r>
            <a:r>
              <a:rPr lang="en-US" sz="2800" dirty="0" smtClean="0"/>
              <a:t>”:</a:t>
            </a:r>
          </a:p>
          <a:p>
            <a:pPr marL="400050" lvl="1" indent="0">
              <a:buNone/>
            </a:pPr>
            <a:r>
              <a:rPr lang="en-US" sz="2400" dirty="0" smtClean="0">
                <a:solidFill>
                  <a:srgbClr val="00B050"/>
                </a:solidFill>
              </a:rPr>
              <a:t>{</a:t>
            </a:r>
            <a:endParaRPr lang="en-US" sz="2400" dirty="0">
              <a:solidFill>
                <a:srgbClr val="00B050"/>
              </a:solidFill>
            </a:endParaRPr>
          </a:p>
          <a:p>
            <a:pPr marL="400050" lvl="1" indent="0">
              <a:buNone/>
            </a:pPr>
            <a:r>
              <a:rPr lang="en-US" sz="2400" dirty="0"/>
              <a:t>“payload”:12,</a:t>
            </a:r>
          </a:p>
          <a:p>
            <a:pPr marL="400050" lvl="1" indent="0">
              <a:buNone/>
            </a:pPr>
            <a:r>
              <a:rPr lang="en-US" sz="2400" dirty="0"/>
              <a:t>“timestamp”: 123456</a:t>
            </a:r>
            <a:r>
              <a:rPr lang="en-US" sz="2400" dirty="0" smtClean="0"/>
              <a:t>,</a:t>
            </a:r>
          </a:p>
          <a:p>
            <a:pPr marL="400050" lvl="1" indent="0">
              <a:buNone/>
            </a:pPr>
            <a:r>
              <a:rPr lang="en-US" sz="2400" dirty="0" smtClean="0"/>
              <a:t>“list”:[1,2,3,4],</a:t>
            </a:r>
            <a:endParaRPr lang="en-US" sz="2400" dirty="0"/>
          </a:p>
          <a:p>
            <a:pPr marL="400050" lvl="1" indent="0">
              <a:buNone/>
            </a:pPr>
            <a:r>
              <a:rPr lang="en-US" sz="2400" dirty="0"/>
              <a:t>“bme280”:</a:t>
            </a:r>
          </a:p>
          <a:p>
            <a:pPr marL="0" indent="0">
              <a:buNone/>
            </a:pPr>
            <a:r>
              <a:rPr lang="en-US" sz="2800" dirty="0" smtClean="0"/>
              <a:t>	</a:t>
            </a: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{</a:t>
            </a:r>
            <a:endParaRPr lang="en-US" sz="2800" dirty="0">
              <a:solidFill>
                <a:schemeClr val="accent5">
                  <a:lumMod val="75000"/>
                </a:schemeClr>
              </a:solidFill>
            </a:endParaRPr>
          </a:p>
          <a:p>
            <a:pPr marL="1257300" lvl="3" indent="0">
              <a:buNone/>
            </a:pPr>
            <a:r>
              <a:rPr lang="en-US" sz="2400" dirty="0"/>
              <a:t>“temp”:30.0,</a:t>
            </a:r>
          </a:p>
          <a:p>
            <a:pPr marL="1257300" lvl="3" indent="0">
              <a:buNone/>
            </a:pPr>
            <a:r>
              <a:rPr lang="en-US" sz="2400" dirty="0"/>
              <a:t>“humidity”:50,</a:t>
            </a:r>
          </a:p>
          <a:p>
            <a:pPr marL="1257300" lvl="3" indent="-288925">
              <a:buNone/>
            </a:pP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}</a:t>
            </a:r>
          </a:p>
          <a:p>
            <a:pPr marL="1257300" lvl="3" indent="-795338">
              <a:buNone/>
            </a:pPr>
            <a:r>
              <a:rPr lang="en-US" sz="2800" dirty="0" smtClean="0">
                <a:solidFill>
                  <a:srgbClr val="00B050"/>
                </a:solidFill>
              </a:rPr>
              <a:t>}</a:t>
            </a:r>
          </a:p>
          <a:p>
            <a:pPr marL="53975" lvl="3" indent="-53975">
              <a:buNone/>
            </a:pPr>
            <a:r>
              <a:rPr lang="en-US" sz="2800" dirty="0" smtClean="0">
                <a:solidFill>
                  <a:srgbClr val="C00000"/>
                </a:solidFill>
              </a:rPr>
              <a:t>}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248400" y="2819400"/>
            <a:ext cx="288886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err="1" smtClean="0"/>
              <a:t>msg.payload</a:t>
            </a:r>
            <a:r>
              <a:rPr lang="en-US" sz="2800" b="1" dirty="0" smtClean="0"/>
              <a:t> -&gt; 12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78135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1000" y="1597190"/>
            <a:ext cx="5410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800" b="1" dirty="0" smtClean="0"/>
          </a:p>
          <a:p>
            <a:r>
              <a:rPr lang="en-US" sz="2800" dirty="0" smtClean="0"/>
              <a:t>Browser-based flow editing</a:t>
            </a:r>
            <a:endParaRPr lang="ru-RU" sz="2800" dirty="0"/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Node-RED</a:t>
            </a:r>
            <a:endParaRPr lang="ru-RU" dirty="0"/>
          </a:p>
        </p:txBody>
      </p:sp>
      <p:grpSp>
        <p:nvGrpSpPr>
          <p:cNvPr id="5" name="Group 4"/>
          <p:cNvGrpSpPr/>
          <p:nvPr/>
        </p:nvGrpSpPr>
        <p:grpSpPr>
          <a:xfrm>
            <a:off x="257175" y="2711799"/>
            <a:ext cx="8629650" cy="3019425"/>
            <a:chOff x="257175" y="2711799"/>
            <a:chExt cx="8629650" cy="3019425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175" y="2711799"/>
              <a:ext cx="8629650" cy="30194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" name="Rectangle 1"/>
            <p:cNvSpPr/>
            <p:nvPr/>
          </p:nvSpPr>
          <p:spPr>
            <a:xfrm>
              <a:off x="2209800" y="3300926"/>
              <a:ext cx="6677025" cy="24302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9357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Report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495800"/>
          </a:xfrm>
        </p:spPr>
        <p:txBody>
          <a:bodyPr>
            <a:normAutofit fontScale="77500" lnSpcReduction="20000"/>
          </a:bodyPr>
          <a:lstStyle/>
          <a:p>
            <a:r>
              <a:rPr lang="en-US" dirty="0" smtClean="0"/>
              <a:t>One team = one report.</a:t>
            </a:r>
          </a:p>
          <a:p>
            <a:r>
              <a:rPr lang="en-US" dirty="0" smtClean="0"/>
              <a:t>Do not forget upload your reports and source files </a:t>
            </a:r>
            <a:r>
              <a:rPr lang="en-US" dirty="0"/>
              <a:t>to Canvas</a:t>
            </a:r>
            <a:r>
              <a:rPr lang="en-US" dirty="0" smtClean="0"/>
              <a:t>!:</a:t>
            </a:r>
          </a:p>
          <a:p>
            <a:pPr lvl="1"/>
            <a:r>
              <a:rPr lang="en-US" dirty="0" smtClean="0"/>
              <a:t>Task1: flow1</a:t>
            </a:r>
            <a:endParaRPr lang="en-US" dirty="0"/>
          </a:p>
          <a:p>
            <a:pPr lvl="1"/>
            <a:r>
              <a:rPr lang="en-US" dirty="0"/>
              <a:t>Task2: </a:t>
            </a:r>
            <a:r>
              <a:rPr lang="en-US" dirty="0" smtClean="0"/>
              <a:t>flow2</a:t>
            </a:r>
          </a:p>
          <a:p>
            <a:pPr lvl="1"/>
            <a:r>
              <a:rPr lang="en-US" dirty="0" smtClean="0"/>
              <a:t>Task3: flow3</a:t>
            </a:r>
          </a:p>
          <a:p>
            <a:pPr lvl="1"/>
            <a:r>
              <a:rPr lang="en-US" dirty="0" smtClean="0"/>
              <a:t>Homework1: HW1</a:t>
            </a:r>
            <a:endParaRPr lang="en-US" dirty="0"/>
          </a:p>
          <a:p>
            <a:pPr lvl="1"/>
            <a:r>
              <a:rPr lang="en-US" dirty="0" smtClean="0"/>
              <a:t>Homework2: HW2</a:t>
            </a:r>
            <a:endParaRPr lang="en-US" dirty="0"/>
          </a:p>
          <a:p>
            <a:pPr marL="457200" lvl="1" indent="0">
              <a:buNone/>
            </a:pPr>
            <a:endParaRPr lang="en-US" dirty="0" smtClean="0"/>
          </a:p>
          <a:p>
            <a:r>
              <a:rPr lang="en-US" dirty="0" smtClean="0"/>
              <a:t>Folder:</a:t>
            </a:r>
          </a:p>
          <a:p>
            <a:pPr lvl="1"/>
            <a:r>
              <a:rPr lang="en-US" dirty="0" smtClean="0"/>
              <a:t>flow files (.</a:t>
            </a:r>
            <a:r>
              <a:rPr lang="en-US" dirty="0" err="1" smtClean="0"/>
              <a:t>json</a:t>
            </a:r>
            <a:r>
              <a:rPr lang="en-US" dirty="0" smtClean="0"/>
              <a:t>).</a:t>
            </a:r>
          </a:p>
          <a:p>
            <a:pPr lvl="1"/>
            <a:r>
              <a:rPr lang="en-US" dirty="0" smtClean="0"/>
              <a:t>Pdf report, list steps briefly done to solve each task. Add screenshots.</a:t>
            </a:r>
          </a:p>
          <a:p>
            <a:pPr lvl="2"/>
            <a:endParaRPr lang="en-US" dirty="0" smtClean="0"/>
          </a:p>
          <a:p>
            <a:pPr lvl="2"/>
            <a:endParaRPr lang="en-US" dirty="0"/>
          </a:p>
          <a:p>
            <a:pPr lvl="1"/>
            <a:endParaRPr lang="en-US" dirty="0" smtClean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3546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43947"/>
              </p:ext>
            </p:extLst>
          </p:nvPr>
        </p:nvGraphicFramePr>
        <p:xfrm>
          <a:off x="762000" y="32657"/>
          <a:ext cx="7620001" cy="6128046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5745313">
                  <a:extLst>
                    <a:ext uri="{9D8B030D-6E8A-4147-A177-3AD203B41FA5}">
                      <a16:colId xmlns:a16="http://schemas.microsoft.com/office/drawing/2014/main" val="2187711992"/>
                    </a:ext>
                  </a:extLst>
                </a:gridCol>
                <a:gridCol w="1874688">
                  <a:extLst>
                    <a:ext uri="{9D8B030D-6E8A-4147-A177-3AD203B41FA5}">
                      <a16:colId xmlns:a16="http://schemas.microsoft.com/office/drawing/2014/main" val="503252164"/>
                    </a:ext>
                  </a:extLst>
                </a:gridCol>
              </a:tblGrid>
              <a:tr h="209453"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Task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Score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750307"/>
                  </a:ext>
                </a:extLst>
              </a:tr>
              <a:tr h="209453"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1.2 UDP: Sender and receiver locally in Node-red. 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5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963154"/>
                  </a:ext>
                </a:extLst>
              </a:tr>
              <a:tr h="209453"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1.3 TCP: TCP sender and receiver inside Nod-Red. 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10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7745546"/>
                  </a:ext>
                </a:extLst>
              </a:tr>
              <a:tr h="20945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1.1 HTTP: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HTTP Get</a:t>
                      </a:r>
                      <a:r>
                        <a:rPr lang="en-US" sz="1800" baseline="0" dirty="0" smtClean="0"/>
                        <a:t> </a:t>
                      </a:r>
                      <a:r>
                        <a:rPr lang="en-US" sz="1800" dirty="0" smtClean="0"/>
                        <a:t>Request to </a:t>
                      </a:r>
                      <a:r>
                        <a:rPr lang="en-US" sz="1800" dirty="0" smtClean="0">
                          <a:hlinkClick r:id="rId3"/>
                        </a:rPr>
                        <a:t>www.example.com</a:t>
                      </a:r>
                      <a:endParaRPr lang="en-US" sz="1800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API</a:t>
                      </a:r>
                      <a:r>
                        <a:rPr lang="en-US" sz="1800" baseline="0" dirty="0" smtClean="0"/>
                        <a:t> to receive data with HTPP in node (Endpoint)</a:t>
                      </a:r>
                      <a:r>
                        <a:rPr lang="en-US" sz="1800" dirty="0" smtClean="0"/>
                        <a:t>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HTTP POST</a:t>
                      </a:r>
                      <a:r>
                        <a:rPr lang="en-US" sz="1800" baseline="0" dirty="0" smtClean="0"/>
                        <a:t> </a:t>
                      </a:r>
                      <a:r>
                        <a:rPr lang="en-US" sz="1800" dirty="0" smtClean="0"/>
                        <a:t>Request to Node-RED from Node-Red.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HTTP POST</a:t>
                      </a:r>
                      <a:r>
                        <a:rPr lang="en-US" sz="1800" baseline="0" dirty="0" smtClean="0"/>
                        <a:t> </a:t>
                      </a:r>
                      <a:r>
                        <a:rPr lang="en-US" sz="1800" dirty="0" smtClean="0"/>
                        <a:t>Request to Node-RED from </a:t>
                      </a:r>
                      <a:r>
                        <a:rPr lang="en-US" sz="1800" dirty="0" err="1" smtClean="0"/>
                        <a:t>cURL</a:t>
                      </a:r>
                      <a:r>
                        <a:rPr lang="en-US" sz="1800" dirty="0" smtClean="0"/>
                        <a:t> command.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51976"/>
                  </a:ext>
                </a:extLst>
              </a:tr>
              <a:tr h="36654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2.1 Formate the numbers(round)</a:t>
                      </a:r>
                      <a:endParaRPr lang="en-US" sz="1800" baseline="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2.</a:t>
                      </a:r>
                      <a:r>
                        <a:rPr lang="ar-SY" sz="1800" dirty="0" smtClean="0"/>
                        <a:t>5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738011"/>
                  </a:ext>
                </a:extLst>
              </a:tr>
              <a:tr h="20945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2.2Toggle led if Temp &gt; 30;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5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521456"/>
                  </a:ext>
                </a:extLst>
              </a:tr>
              <a:tr h="36654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2.3 Scale the water level from [0, 3.3] to [0,100].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2.5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7342125"/>
                  </a:ext>
                </a:extLst>
              </a:tr>
              <a:tr h="36654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2.4 Save timestamp, temperature, humidity, and water level to csv file.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5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468647"/>
                  </a:ext>
                </a:extLst>
              </a:tr>
              <a:tr h="32467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3.1 MQTT publish/subscribe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5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633716"/>
                  </a:ext>
                </a:extLst>
              </a:tr>
              <a:tr h="32467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3.2 Send data from Node-Red</a:t>
                      </a:r>
                      <a:r>
                        <a:rPr lang="en-US" sz="1800" baseline="0" dirty="0" smtClean="0"/>
                        <a:t> to </a:t>
                      </a:r>
                      <a:r>
                        <a:rPr lang="en-US" sz="1800" dirty="0" err="1" smtClean="0"/>
                        <a:t>initialstate</a:t>
                      </a:r>
                      <a:endParaRPr lang="en-US" sz="18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10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237294"/>
                  </a:ext>
                </a:extLst>
              </a:tr>
              <a:tr h="32467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3.3 Send data from Node-Red</a:t>
                      </a:r>
                      <a:r>
                        <a:rPr lang="en-US" sz="1800" baseline="0" dirty="0" smtClean="0"/>
                        <a:t> to </a:t>
                      </a:r>
                      <a:r>
                        <a:rPr lang="en-US" sz="1800" dirty="0" smtClean="0"/>
                        <a:t>Ubidots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10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167756"/>
                  </a:ext>
                </a:extLst>
              </a:tr>
              <a:tr h="32467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Homework1:</a:t>
                      </a:r>
                      <a:r>
                        <a:rPr lang="en-US" sz="1800" baseline="0" dirty="0" smtClean="0"/>
                        <a:t> </a:t>
                      </a:r>
                      <a:r>
                        <a:rPr lang="en-US" sz="1800" dirty="0" smtClean="0"/>
                        <a:t>4.1 Capture image and save it.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10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378133"/>
                  </a:ext>
                </a:extLst>
              </a:tr>
              <a:tr h="32467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Homework2:</a:t>
                      </a:r>
                      <a:r>
                        <a:rPr lang="en-US" sz="1800" baseline="0" dirty="0" smtClean="0"/>
                        <a:t> </a:t>
                      </a:r>
                      <a:r>
                        <a:rPr lang="en-US" sz="1800" dirty="0" smtClean="0"/>
                        <a:t>5. Telegram bot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20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02585"/>
                  </a:ext>
                </a:extLst>
              </a:tr>
            </a:tbl>
          </a:graphicData>
        </a:graphic>
      </p:graphicFrame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342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itchFamily="34" charset="0"/>
                <a:cs typeface="Calibri" pitchFamily="34" charset="0"/>
              </a:rPr>
              <a:t>Hypertext Transfer </a:t>
            </a:r>
            <a:r>
              <a:rPr lang="en-US" dirty="0" smtClean="0">
                <a:latin typeface="Calibri" pitchFamily="34" charset="0"/>
                <a:cs typeface="Calibri" pitchFamily="34" charset="0"/>
              </a:rPr>
              <a:t>Protocol (HTTP)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389914" y="5207664"/>
            <a:ext cx="274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en-US" dirty="0" smtClean="0"/>
              <a:t>              Servers: </a:t>
            </a:r>
          </a:p>
          <a:p>
            <a:pPr marL="0" lvl="1"/>
            <a:r>
              <a:rPr lang="en-US" dirty="0" smtClean="0">
                <a:hlinkClick r:id="rId3"/>
              </a:rPr>
              <a:t>https</a:t>
            </a:r>
            <a:r>
              <a:rPr lang="en-US" dirty="0">
                <a:hlinkClick r:id="rId3"/>
              </a:rPr>
              <a:t>://</a:t>
            </a:r>
            <a:r>
              <a:rPr lang="en-US" dirty="0" smtClean="0">
                <a:hlinkClick r:id="rId3"/>
              </a:rPr>
              <a:t>httpbin.org/</a:t>
            </a:r>
            <a:endParaRPr lang="en-US" dirty="0"/>
          </a:p>
          <a:p>
            <a:pPr marL="0" lvl="1"/>
            <a:r>
              <a:rPr lang="en-US" b="1" dirty="0" smtClean="0">
                <a:solidFill>
                  <a:srgbClr val="00B050"/>
                </a:solidFill>
                <a:hlinkClick r:id="rId4"/>
              </a:rPr>
              <a:t>https</a:t>
            </a:r>
            <a:r>
              <a:rPr lang="en-US" b="1" dirty="0">
                <a:solidFill>
                  <a:srgbClr val="00B050"/>
                </a:solidFill>
                <a:hlinkClick r:id="rId4"/>
              </a:rPr>
              <a:t>://</a:t>
            </a:r>
            <a:r>
              <a:rPr lang="en-US" dirty="0" smtClean="0">
                <a:solidFill>
                  <a:srgbClr val="00B050"/>
                </a:solidFill>
                <a:hlinkClick r:id="rId4"/>
              </a:rPr>
              <a:t>www.example.com</a:t>
            </a:r>
            <a:r>
              <a:rPr lang="en-US" dirty="0" smtClean="0">
                <a:solidFill>
                  <a:srgbClr val="00B050"/>
                </a:solidFill>
              </a:rPr>
              <a:t>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8124" y="1244539"/>
            <a:ext cx="9058275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HTTP is one of protocols supported by curl command (run in command line)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curl -</a:t>
            </a:r>
            <a:r>
              <a:rPr lang="en-US" dirty="0" err="1" smtClean="0"/>
              <a:t>iX</a:t>
            </a:r>
            <a:r>
              <a:rPr lang="en-US" dirty="0" smtClean="0"/>
              <a:t> </a:t>
            </a:r>
            <a:r>
              <a:rPr lang="en-US" dirty="0"/>
              <a:t>GET </a:t>
            </a:r>
            <a:r>
              <a:rPr lang="en-US" dirty="0" smtClean="0"/>
              <a:t>"https</a:t>
            </a:r>
            <a:r>
              <a:rPr lang="en-US" dirty="0"/>
              <a:t>://</a:t>
            </a:r>
            <a:r>
              <a:rPr lang="en-US" dirty="0" smtClean="0"/>
              <a:t>httpbin.org/get" -d </a:t>
            </a:r>
            <a:r>
              <a:rPr lang="en-US" dirty="0"/>
              <a:t>‘{“v1”:100}’ </a:t>
            </a:r>
            <a:r>
              <a:rPr lang="en-US" dirty="0" smtClean="0"/>
              <a:t>-</a:t>
            </a:r>
            <a:r>
              <a:rPr lang="en-US" dirty="0"/>
              <a:t>H "accept: </a:t>
            </a:r>
            <a:r>
              <a:rPr lang="en-US" dirty="0" smtClean="0"/>
              <a:t>application/</a:t>
            </a:r>
            <a:r>
              <a:rPr lang="en-US" dirty="0" err="1" smtClean="0"/>
              <a:t>json</a:t>
            </a:r>
            <a:r>
              <a:rPr lang="en-US" dirty="0" smtClean="0"/>
              <a:t>“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curl -</a:t>
            </a:r>
            <a:r>
              <a:rPr lang="en-US" dirty="0" err="1" smtClean="0"/>
              <a:t>iX</a:t>
            </a:r>
            <a:r>
              <a:rPr lang="en-US" dirty="0" smtClean="0"/>
              <a:t> </a:t>
            </a:r>
            <a:r>
              <a:rPr lang="en-US" dirty="0"/>
              <a:t>POST "</a:t>
            </a:r>
            <a:r>
              <a:rPr lang="en-US" b="1" dirty="0"/>
              <a:t>https://httpbin.org/post</a:t>
            </a:r>
            <a:r>
              <a:rPr lang="en-US" dirty="0"/>
              <a:t>" </a:t>
            </a:r>
            <a:r>
              <a:rPr lang="en-US" dirty="0" smtClean="0"/>
              <a:t>-d </a:t>
            </a:r>
            <a:r>
              <a:rPr lang="en-US" dirty="0"/>
              <a:t>‘{“v1”:100}’ </a:t>
            </a:r>
            <a:r>
              <a:rPr lang="en-US" dirty="0" smtClean="0"/>
              <a:t>-</a:t>
            </a:r>
            <a:r>
              <a:rPr lang="en-US" dirty="0"/>
              <a:t>H "accept: application/</a:t>
            </a:r>
            <a:r>
              <a:rPr lang="en-US" dirty="0" err="1"/>
              <a:t>json</a:t>
            </a:r>
            <a:r>
              <a:rPr lang="en-US" dirty="0"/>
              <a:t>“</a:t>
            </a:r>
          </a:p>
          <a:p>
            <a:pPr lvl="1" algn="just">
              <a:lnSpc>
                <a:spcPct val="150000"/>
              </a:lnSpc>
            </a:pPr>
            <a:r>
              <a:rPr lang="en-US" dirty="0"/>
              <a:t>curl </a:t>
            </a:r>
            <a:r>
              <a:rPr lang="en-US" dirty="0" smtClean="0"/>
              <a:t>-</a:t>
            </a:r>
            <a:r>
              <a:rPr lang="en-US" dirty="0" err="1" smtClean="0"/>
              <a:t>iX</a:t>
            </a:r>
            <a:r>
              <a:rPr lang="en-US" dirty="0" smtClean="0"/>
              <a:t> </a:t>
            </a:r>
            <a:r>
              <a:rPr lang="en-US" dirty="0"/>
              <a:t>GET "</a:t>
            </a:r>
            <a:r>
              <a:rPr lang="en-US" b="1" dirty="0">
                <a:solidFill>
                  <a:srgbClr val="00B050"/>
                </a:solidFill>
              </a:rPr>
              <a:t>https://</a:t>
            </a:r>
            <a:r>
              <a:rPr lang="en-US" dirty="0">
                <a:solidFill>
                  <a:srgbClr val="00B050"/>
                </a:solidFill>
              </a:rPr>
              <a:t>www.example.com</a:t>
            </a:r>
            <a:r>
              <a:rPr lang="en-US" dirty="0"/>
              <a:t>" </a:t>
            </a:r>
            <a:r>
              <a:rPr lang="en-US" dirty="0" smtClean="0"/>
              <a:t>-</a:t>
            </a:r>
            <a:r>
              <a:rPr lang="en-US" dirty="0"/>
              <a:t>H "accept: application/</a:t>
            </a:r>
            <a:r>
              <a:rPr lang="en-US" dirty="0" err="1"/>
              <a:t>json</a:t>
            </a:r>
            <a:r>
              <a:rPr lang="en-US" dirty="0" smtClean="0"/>
              <a:t>“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curl </a:t>
            </a:r>
            <a:r>
              <a:rPr lang="en-US" dirty="0"/>
              <a:t>-</a:t>
            </a:r>
            <a:r>
              <a:rPr lang="en-US" dirty="0" err="1"/>
              <a:t>iX</a:t>
            </a:r>
            <a:r>
              <a:rPr lang="en-US" dirty="0"/>
              <a:t> POST "https://www.example.com" -d '{"v1":100}' -H "accept: </a:t>
            </a:r>
            <a:r>
              <a:rPr lang="en-US" dirty="0" smtClean="0"/>
              <a:t>application/</a:t>
            </a:r>
            <a:r>
              <a:rPr lang="en-US" dirty="0" err="1" smtClean="0"/>
              <a:t>json</a:t>
            </a:r>
            <a:r>
              <a:rPr lang="en-US" dirty="0" smtClean="0"/>
              <a:t>“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smtClean="0"/>
              <a:t>Python </a:t>
            </a:r>
            <a:r>
              <a:rPr lang="en-US" b="1" dirty="0"/>
              <a:t>implementation </a:t>
            </a:r>
            <a:r>
              <a:rPr lang="en-US" b="1" dirty="0" smtClean="0"/>
              <a:t>of </a:t>
            </a:r>
            <a:r>
              <a:rPr lang="en-US" b="1" dirty="0"/>
              <a:t>HTTP – </a:t>
            </a:r>
            <a:r>
              <a:rPr lang="en-US" b="1" dirty="0" smtClean="0"/>
              <a:t>requests</a:t>
            </a:r>
          </a:p>
          <a:p>
            <a:pPr lvl="1" algn="just">
              <a:lnSpc>
                <a:spcPct val="150000"/>
              </a:lnSpc>
            </a:pPr>
            <a:r>
              <a:rPr lang="en-US" sz="1600" b="1" dirty="0" smtClean="0">
                <a:solidFill>
                  <a:srgbClr val="00B050"/>
                </a:solidFill>
              </a:rPr>
              <a:t>Installation</a:t>
            </a:r>
            <a:r>
              <a:rPr lang="en-US" sz="1600" b="1" dirty="0"/>
              <a:t>: </a:t>
            </a:r>
            <a:r>
              <a:rPr lang="en-US" sz="1600" dirty="0"/>
              <a:t>pip install </a:t>
            </a:r>
            <a:r>
              <a:rPr lang="en-US" sz="1600" dirty="0" smtClean="0"/>
              <a:t>requests</a:t>
            </a:r>
          </a:p>
          <a:p>
            <a:pPr lvl="1" algn="just">
              <a:lnSpc>
                <a:spcPct val="150000"/>
              </a:lnSpc>
            </a:pPr>
            <a:r>
              <a:rPr lang="en-US" sz="1600" dirty="0" smtClean="0"/>
              <a:t>Import </a:t>
            </a:r>
            <a:r>
              <a:rPr lang="en-US" sz="1600" dirty="0"/>
              <a:t>requests </a:t>
            </a:r>
          </a:p>
          <a:p>
            <a:pPr lvl="1" algn="just">
              <a:lnSpc>
                <a:spcPct val="150000"/>
              </a:lnSpc>
            </a:pPr>
            <a:r>
              <a:rPr lang="en-US" sz="1600" dirty="0" smtClean="0"/>
              <a:t>r </a:t>
            </a:r>
            <a:r>
              <a:rPr lang="en-US" sz="1600" dirty="0"/>
              <a:t>= </a:t>
            </a:r>
            <a:r>
              <a:rPr lang="en-US" sz="1600" dirty="0" err="1"/>
              <a:t>requests.get</a:t>
            </a:r>
            <a:r>
              <a:rPr lang="en-US" sz="1600" dirty="0"/>
              <a:t>("</a:t>
            </a:r>
            <a:r>
              <a:rPr lang="en-US" sz="1600" b="1" dirty="0"/>
              <a:t>https://httpbin.org/get</a:t>
            </a:r>
            <a:r>
              <a:rPr lang="en-US" sz="1600" dirty="0"/>
              <a:t>", data </a:t>
            </a:r>
            <a:r>
              <a:rPr lang="en-US" sz="1600" dirty="0" smtClean="0"/>
              <a:t>= payload)</a:t>
            </a:r>
          </a:p>
          <a:p>
            <a:pPr lvl="1" algn="just">
              <a:lnSpc>
                <a:spcPct val="150000"/>
              </a:lnSpc>
            </a:pPr>
            <a:r>
              <a:rPr lang="en-US" sz="1600" dirty="0" smtClean="0"/>
              <a:t>print(</a:t>
            </a:r>
            <a:r>
              <a:rPr lang="en-US" sz="1600" dirty="0" err="1" smtClean="0"/>
              <a:t>r.status_code</a:t>
            </a:r>
            <a:r>
              <a:rPr lang="en-US" sz="1600" dirty="0" smtClean="0"/>
              <a:t>,</a:t>
            </a:r>
            <a:r>
              <a:rPr lang="en-US" sz="1600" dirty="0"/>
              <a:t> </a:t>
            </a:r>
            <a:r>
              <a:rPr lang="en-US" sz="1600" dirty="0" err="1" smtClean="0"/>
              <a:t>r.content</a:t>
            </a:r>
            <a:r>
              <a:rPr lang="en-US" sz="1600" dirty="0" smtClean="0"/>
              <a:t>,</a:t>
            </a:r>
            <a:r>
              <a:rPr lang="en-US" sz="1600" dirty="0"/>
              <a:t> </a:t>
            </a:r>
            <a:r>
              <a:rPr lang="en-US" sz="1600" dirty="0" err="1" smtClean="0"/>
              <a:t>r.text</a:t>
            </a:r>
            <a:r>
              <a:rPr lang="en-US" sz="1600" dirty="0" smtClean="0"/>
              <a:t>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6400800"/>
            <a:ext cx="35458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5"/>
              </a:rPr>
              <a:t>https://</a:t>
            </a:r>
            <a:r>
              <a:rPr lang="en-US" dirty="0" smtClean="0">
                <a:hlinkClick r:id="rId5"/>
              </a:rPr>
              <a:t>curl.se/docs/manpage.html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5780314" y="3645195"/>
            <a:ext cx="3352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dirty="0">
                <a:latin typeface="+mn-lt"/>
              </a:rPr>
              <a:t>-</a:t>
            </a:r>
            <a:r>
              <a:rPr lang="en-US" altLang="en-US" dirty="0" err="1">
                <a:latin typeface="+mn-lt"/>
              </a:rPr>
              <a:t>i</a:t>
            </a:r>
            <a:r>
              <a:rPr lang="en-US" altLang="en-US" dirty="0">
                <a:latin typeface="+mn-lt"/>
              </a:rPr>
              <a:t>: display the response headers (e.g., status code, content type) along with the response body 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nl-NL" altLang="en-US" dirty="0">
                <a:latin typeface="+mn-lt"/>
              </a:rPr>
              <a:t>-X Flag (Specify HTTP Method)</a:t>
            </a:r>
            <a:endParaRPr lang="en-US" alt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7455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Variable types in Node-Red 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457200" y="3048000"/>
            <a:ext cx="8229600" cy="1752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itchFamily="34" charset="0"/>
              <a:buNone/>
            </a:pPr>
            <a:endParaRPr lang="en-US" dirty="0" smtClean="0"/>
          </a:p>
        </p:txBody>
      </p:sp>
      <p:sp>
        <p:nvSpPr>
          <p:cNvPr id="9" name="Rectangle 8"/>
          <p:cNvSpPr/>
          <p:nvPr/>
        </p:nvSpPr>
        <p:spPr>
          <a:xfrm>
            <a:off x="3649980" y="2136547"/>
            <a:ext cx="4419600" cy="1219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var(--ds-font-family-code)"/>
              </a:rPr>
              <a:t>// Set a flow variable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err="1">
                <a:latin typeface="var(--ds-font-family-code)"/>
              </a:rPr>
              <a:t>flow.set</a:t>
            </a:r>
            <a:r>
              <a:rPr lang="en-US" altLang="en-US" dirty="0">
                <a:latin typeface="var(--ds-font-family-code)"/>
              </a:rPr>
              <a:t>("temperature", 25);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var(--ds-font-family-code)"/>
              </a:rPr>
              <a:t>// Get a flow variable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var(--ds-font-family-code)"/>
              </a:rPr>
              <a:t>let temp = </a:t>
            </a:r>
            <a:r>
              <a:rPr lang="en-US" altLang="en-US" dirty="0" err="1">
                <a:latin typeface="var(--ds-font-family-code)"/>
              </a:rPr>
              <a:t>flow.get</a:t>
            </a:r>
            <a:r>
              <a:rPr lang="en-US" altLang="en-US" dirty="0">
                <a:latin typeface="var(--ds-font-family-code)"/>
              </a:rPr>
              <a:t>("temperature");</a:t>
            </a:r>
            <a:r>
              <a:rPr lang="en-US" altLang="en-US" dirty="0"/>
              <a:t> 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7600" y="3524022"/>
            <a:ext cx="4419600" cy="1219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var(--ds-font-family-code)"/>
              </a:rPr>
              <a:t>// Set a global variable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err="1">
                <a:latin typeface="var(--ds-font-family-code)"/>
              </a:rPr>
              <a:t>global.set</a:t>
            </a:r>
            <a:r>
              <a:rPr lang="en-US" altLang="en-US" dirty="0">
                <a:latin typeface="var(--ds-font-family-code)"/>
              </a:rPr>
              <a:t>("</a:t>
            </a:r>
            <a:r>
              <a:rPr lang="en-US" altLang="en-US" dirty="0" err="1">
                <a:latin typeface="var(--ds-font-family-code)"/>
              </a:rPr>
              <a:t>systemStatus</a:t>
            </a:r>
            <a:r>
              <a:rPr lang="en-US" altLang="en-US" dirty="0">
                <a:latin typeface="var(--ds-font-family-code)"/>
              </a:rPr>
              <a:t>", "active");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latin typeface="var(--ds-font-family-code)"/>
              </a:rPr>
              <a:t>// </a:t>
            </a:r>
            <a:r>
              <a:rPr lang="en-US" altLang="en-US" dirty="0">
                <a:latin typeface="var(--ds-font-family-code)"/>
              </a:rPr>
              <a:t>Get a global variable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var(--ds-font-family-code)"/>
              </a:rPr>
              <a:t>let status = </a:t>
            </a:r>
            <a:r>
              <a:rPr lang="en-US" altLang="en-US" dirty="0" err="1">
                <a:latin typeface="var(--ds-font-family-code)"/>
              </a:rPr>
              <a:t>global.get</a:t>
            </a:r>
            <a:r>
              <a:rPr lang="en-US" altLang="en-US" dirty="0">
                <a:latin typeface="var(--ds-font-family-code)"/>
              </a:rPr>
              <a:t>("</a:t>
            </a:r>
            <a:r>
              <a:rPr lang="en-US" altLang="en-US" dirty="0" err="1">
                <a:latin typeface="var(--ds-font-family-code)"/>
              </a:rPr>
              <a:t>systemStatus</a:t>
            </a:r>
            <a:r>
              <a:rPr lang="en-US" altLang="en-US" dirty="0">
                <a:latin typeface="var(--ds-font-family-code)"/>
              </a:rPr>
              <a:t>");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363980" y="2561481"/>
            <a:ext cx="16873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/>
              <a:t>Flow Variables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7780" y="3926438"/>
            <a:ext cx="186634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/>
              <a:t>Global Variables</a:t>
            </a: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9820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96829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 smtClean="0"/>
              <a:t>Task1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599" y="1600200"/>
            <a:ext cx="8515367" cy="3717607"/>
          </a:xfrm>
        </p:spPr>
        <p:txBody>
          <a:bodyPr>
            <a:normAutofit/>
          </a:bodyPr>
          <a:lstStyle/>
          <a:p>
            <a:r>
              <a:rPr lang="en-US" sz="2800" u="sng" dirty="0" smtClean="0"/>
              <a:t>Locally</a:t>
            </a:r>
            <a:r>
              <a:rPr lang="en-US" sz="2800" dirty="0" smtClean="0"/>
              <a:t> </a:t>
            </a:r>
            <a:r>
              <a:rPr lang="en-US" sz="2800" dirty="0"/>
              <a:t>in Node </a:t>
            </a:r>
            <a:r>
              <a:rPr lang="en-US" sz="2800" dirty="0" smtClean="0"/>
              <a:t>red:</a:t>
            </a:r>
          </a:p>
          <a:p>
            <a:pPr lvl="1"/>
            <a:r>
              <a:rPr lang="en-US" sz="2400" dirty="0" smtClean="0"/>
              <a:t>Send </a:t>
            </a:r>
            <a:r>
              <a:rPr lang="en-US" sz="2400" dirty="0"/>
              <a:t>and receive data using </a:t>
            </a:r>
            <a:r>
              <a:rPr lang="en-US" sz="2400" dirty="0" smtClean="0"/>
              <a:t>UDP (two direction: UDP in and UDP out).</a:t>
            </a:r>
          </a:p>
          <a:p>
            <a:pPr lvl="1"/>
            <a:r>
              <a:rPr lang="en-US" sz="2400" dirty="0" smtClean="0"/>
              <a:t>Send </a:t>
            </a:r>
            <a:r>
              <a:rPr lang="en-US" sz="2400" dirty="0"/>
              <a:t>and receive data using TCP (two direction: </a:t>
            </a:r>
            <a:r>
              <a:rPr lang="en-US" sz="2400" dirty="0" smtClean="0"/>
              <a:t>TCP in, TCP out, and TCP request).</a:t>
            </a:r>
            <a:endParaRPr lang="en-US" sz="2400" dirty="0"/>
          </a:p>
          <a:p>
            <a:pPr lvl="1"/>
            <a:endParaRPr lang="en-US" sz="2400" dirty="0" smtClean="0"/>
          </a:p>
          <a:p>
            <a:endParaRPr lang="en-US" sz="2800" dirty="0" smtClean="0"/>
          </a:p>
          <a:p>
            <a:endParaRPr lang="en-US" sz="2800" dirty="0" smtClean="0"/>
          </a:p>
          <a:p>
            <a:endParaRPr lang="en-US" sz="2800" dirty="0" smtClean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457200" y="3048000"/>
            <a:ext cx="8229600" cy="1752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itchFamily="34" charset="0"/>
              <a:buNone/>
            </a:pPr>
            <a:endParaRPr lang="en-US" dirty="0" smtClean="0"/>
          </a:p>
        </p:txBody>
      </p:sp>
      <p:sp>
        <p:nvSpPr>
          <p:cNvPr id="6" name="Rectangle 5"/>
          <p:cNvSpPr/>
          <p:nvPr/>
        </p:nvSpPr>
        <p:spPr>
          <a:xfrm>
            <a:off x="6419833" y="4358008"/>
            <a:ext cx="2266967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3200" dirty="0" smtClean="0"/>
              <a:t>IP: 127.0.0.1</a:t>
            </a:r>
          </a:p>
          <a:p>
            <a:r>
              <a:rPr lang="en-US" sz="3200" dirty="0"/>
              <a:t>Port: </a:t>
            </a:r>
            <a:r>
              <a:rPr lang="en-US" sz="3200" dirty="0" smtClean="0"/>
              <a:t>60000</a:t>
            </a:r>
            <a:endParaRPr lang="en-US" sz="32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4005751"/>
            <a:ext cx="2281263" cy="2624112"/>
          </a:xfrm>
          <a:prstGeom prst="rect">
            <a:avLst/>
          </a:prstGeom>
        </p:spPr>
      </p:pic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220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96829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 smtClean="0"/>
              <a:t>Task1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457200" y="3048000"/>
            <a:ext cx="8229600" cy="1752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itchFamily="34" charset="0"/>
              <a:buNone/>
            </a:pPr>
            <a:endParaRPr lang="en-US" dirty="0" smtClean="0"/>
          </a:p>
        </p:txBody>
      </p:sp>
      <p:sp>
        <p:nvSpPr>
          <p:cNvPr id="8" name="Rectangle 7"/>
          <p:cNvSpPr/>
          <p:nvPr/>
        </p:nvSpPr>
        <p:spPr>
          <a:xfrm>
            <a:off x="1143000" y="4771071"/>
            <a:ext cx="4124325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curl -</a:t>
            </a:r>
            <a:r>
              <a:rPr lang="en-US" dirty="0" err="1"/>
              <a:t>iX</a:t>
            </a:r>
            <a:r>
              <a:rPr lang="en-US" dirty="0"/>
              <a:t> POST "http://localhost:1880/</a:t>
            </a:r>
            <a:r>
              <a:rPr lang="en-US" dirty="0" err="1"/>
              <a:t>setlevel</a:t>
            </a:r>
            <a:r>
              <a:rPr lang="en-US" dirty="0"/>
              <a:t>" \</a:t>
            </a:r>
          </a:p>
          <a:p>
            <a:r>
              <a:rPr lang="en-US" dirty="0"/>
              <a:t>     -H "accept: application/</a:t>
            </a:r>
            <a:r>
              <a:rPr lang="en-US" dirty="0" err="1"/>
              <a:t>json</a:t>
            </a:r>
            <a:r>
              <a:rPr lang="en-US" dirty="0"/>
              <a:t>" \</a:t>
            </a:r>
          </a:p>
          <a:p>
            <a:r>
              <a:rPr lang="en-US" dirty="0"/>
              <a:t>     -H "Content-Type: application/</a:t>
            </a:r>
            <a:r>
              <a:rPr lang="en-US" dirty="0" err="1"/>
              <a:t>json</a:t>
            </a:r>
            <a:r>
              <a:rPr lang="en-US" dirty="0"/>
              <a:t>" \</a:t>
            </a:r>
          </a:p>
          <a:p>
            <a:r>
              <a:rPr lang="en-US" dirty="0"/>
              <a:t>     -d '{"v1":100}'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4373" y="4398610"/>
            <a:ext cx="24289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127.0.0.1:1880/</a:t>
            </a:r>
            <a:r>
              <a:rPr lang="en-US" b="1" dirty="0" err="1" smtClean="0"/>
              <a:t>setlevel</a:t>
            </a:r>
            <a:endParaRPr lang="en-US" b="1" dirty="0"/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304800" y="1600200"/>
            <a:ext cx="8534400" cy="3069246"/>
          </a:xfrm>
        </p:spPr>
        <p:txBody>
          <a:bodyPr>
            <a:normAutofit/>
          </a:bodyPr>
          <a:lstStyle/>
          <a:p>
            <a:r>
              <a:rPr lang="en-US" sz="2400" b="1" u="sng" dirty="0"/>
              <a:t>Locally</a:t>
            </a:r>
            <a:r>
              <a:rPr lang="en-US" sz="2400" dirty="0"/>
              <a:t> in Node red</a:t>
            </a:r>
            <a:r>
              <a:rPr lang="en-US" sz="2400" dirty="0" smtClean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Send and receive data using HTTP (two direction):</a:t>
            </a:r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/>
              <a:t>Send HTTP Request to </a:t>
            </a:r>
            <a:r>
              <a:rPr lang="en-US" sz="2000" dirty="0">
                <a:hlinkClick r:id="rId3"/>
              </a:rPr>
              <a:t>https://www.example.com</a:t>
            </a:r>
            <a:endParaRPr lang="en-US" sz="2000" dirty="0"/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/>
              <a:t>Create http API (listener = POST) in </a:t>
            </a:r>
            <a:r>
              <a:rPr lang="en-US" sz="2000" dirty="0" err="1"/>
              <a:t>NodeRed</a:t>
            </a:r>
            <a:r>
              <a:rPr lang="en-US" sz="2000" dirty="0"/>
              <a:t>, with http in node: </a:t>
            </a:r>
            <a:r>
              <a:rPr lang="en-US" sz="2000" dirty="0" err="1"/>
              <a:t>setlevel</a:t>
            </a:r>
            <a:r>
              <a:rPr lang="en-US" sz="2000" dirty="0"/>
              <a:t>.</a:t>
            </a:r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/>
              <a:t>Post data locally from HTTP node-red client to the listener. </a:t>
            </a:r>
          </a:p>
          <a:p>
            <a:pPr marL="1257300" lvl="2" indent="-342900">
              <a:buFont typeface="Wingdings" panose="05000000000000000000" pitchFamily="2" charset="2"/>
              <a:buChar char="Ø"/>
            </a:pPr>
            <a:r>
              <a:rPr lang="en-US" sz="2000" dirty="0"/>
              <a:t>Send data from laptop with curl command.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521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Task2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Create a dashboard in Node-Red (indicators, chart</a:t>
            </a:r>
            <a:r>
              <a:rPr lang="en-US" sz="2800" dirty="0" smtClean="0"/>
              <a:t>).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 smtClean="0"/>
              <a:t>Send </a:t>
            </a:r>
            <a:r>
              <a:rPr lang="en-US" sz="2000" dirty="0" err="1" smtClean="0"/>
              <a:t>dat</a:t>
            </a:r>
            <a:r>
              <a:rPr lang="en-US" sz="2000" dirty="0" smtClean="0"/>
              <a:t> from Laptop (TCP client in Node-Red or from py script provided in the materials) to Node-Red (TCP server).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 smtClean="0"/>
              <a:t>Formate the numbers(round</a:t>
            </a:r>
            <a:r>
              <a:rPr lang="en-US" sz="2000" dirty="0"/>
              <a:t>)</a:t>
            </a:r>
            <a:r>
              <a:rPr lang="en-US" sz="2000" dirty="0" smtClean="0"/>
              <a:t>.</a:t>
            </a:r>
            <a:endParaRPr lang="en-US" sz="20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/>
              <a:t>Toggle led if Temp &gt; </a:t>
            </a:r>
            <a:r>
              <a:rPr lang="en-US" sz="2000" dirty="0" smtClean="0"/>
              <a:t>30;</a:t>
            </a:r>
            <a:endParaRPr lang="en-US" sz="20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 smtClean="0"/>
              <a:t>Scale </a:t>
            </a:r>
            <a:r>
              <a:rPr lang="en-US" sz="2000" dirty="0"/>
              <a:t>the water level from [0</a:t>
            </a:r>
            <a:r>
              <a:rPr lang="en-US" sz="2000" dirty="0" smtClean="0"/>
              <a:t>, 3.3</a:t>
            </a:r>
            <a:r>
              <a:rPr lang="en-US" sz="2000" dirty="0"/>
              <a:t>] to [0,100</a:t>
            </a:r>
            <a:r>
              <a:rPr lang="en-US" sz="2000" dirty="0" smtClean="0"/>
              <a:t>].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 smtClean="0"/>
              <a:t>Save timestamp, temperature, humidity, and water level to csv file (use csv node).</a:t>
            </a:r>
            <a:endParaRPr lang="en-US" sz="2000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b="1" dirty="0" smtClean="0"/>
              <a:t>Visualize</a:t>
            </a:r>
            <a:r>
              <a:rPr lang="en-US" sz="2000" dirty="0" smtClean="0"/>
              <a:t> </a:t>
            </a:r>
            <a:r>
              <a:rPr lang="en-US" sz="2000" dirty="0"/>
              <a:t>temp, water level, and  </a:t>
            </a:r>
            <a:r>
              <a:rPr lang="en-US" sz="2000" dirty="0" smtClean="0"/>
              <a:t>humidity.</a:t>
            </a:r>
          </a:p>
          <a:p>
            <a:pPr lvl="2"/>
            <a:r>
              <a:rPr lang="en-US" sz="2800" dirty="0"/>
              <a:t> </a:t>
            </a:r>
            <a:r>
              <a:rPr lang="en-US" sz="1800" dirty="0"/>
              <a:t>One chart: </a:t>
            </a:r>
            <a:r>
              <a:rPr lang="en-US" sz="1800" dirty="0" smtClean="0"/>
              <a:t>temperature.</a:t>
            </a:r>
          </a:p>
          <a:p>
            <a:pPr lvl="2"/>
            <a:r>
              <a:rPr lang="en-US" sz="1800" dirty="0" smtClean="0"/>
              <a:t>Two </a:t>
            </a:r>
            <a:r>
              <a:rPr lang="en-US" sz="1800" dirty="0"/>
              <a:t>indicator ( humidity, water level).</a:t>
            </a:r>
          </a:p>
          <a:p>
            <a:endParaRPr lang="en-US" sz="2000" dirty="0" smtClean="0"/>
          </a:p>
          <a:p>
            <a:endParaRPr lang="en-US" sz="2000" dirty="0" smtClean="0"/>
          </a:p>
          <a:p>
            <a:endParaRPr lang="en-US" sz="2000" dirty="0" smtClean="0"/>
          </a:p>
          <a:p>
            <a:pPr marL="0" indent="0">
              <a:buNone/>
            </a:pPr>
            <a:endParaRPr lang="en-US" sz="2000" dirty="0"/>
          </a:p>
          <a:p>
            <a:endParaRPr lang="en-US" sz="2800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457200" y="3048000"/>
            <a:ext cx="8229600" cy="1752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itchFamily="34" charset="0"/>
              <a:buNone/>
            </a:pPr>
            <a:endParaRPr lang="en-US" dirty="0" smtClean="0"/>
          </a:p>
        </p:txBody>
      </p:sp>
      <p:sp>
        <p:nvSpPr>
          <p:cNvPr id="6" name="Rectangle 5"/>
          <p:cNvSpPr/>
          <p:nvPr/>
        </p:nvSpPr>
        <p:spPr>
          <a:xfrm>
            <a:off x="685800" y="5819448"/>
            <a:ext cx="514012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install </a:t>
            </a:r>
            <a:r>
              <a:rPr lang="en-US" dirty="0" smtClean="0"/>
              <a:t>dashboard: npm </a:t>
            </a:r>
            <a:r>
              <a:rPr lang="en-US" dirty="0"/>
              <a:t>install node-red-dashboard</a:t>
            </a:r>
          </a:p>
          <a:p>
            <a:r>
              <a:rPr lang="en-US" dirty="0"/>
              <a:t>install </a:t>
            </a:r>
            <a:r>
              <a:rPr lang="en-US" dirty="0" smtClean="0"/>
              <a:t>math nodes: npm </a:t>
            </a:r>
            <a:r>
              <a:rPr lang="en-US" dirty="0"/>
              <a:t>install node-red-</a:t>
            </a:r>
            <a:r>
              <a:rPr lang="en-US" dirty="0" err="1"/>
              <a:t>contrib</a:t>
            </a:r>
            <a:r>
              <a:rPr lang="en-US" dirty="0"/>
              <a:t>-</a:t>
            </a:r>
            <a:r>
              <a:rPr lang="en-US" dirty="0" err="1"/>
              <a:t>calc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346767" y="2971800"/>
            <a:ext cx="254646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US" b="1" dirty="0" smtClean="0"/>
              <a:t>Use sender_protocols.py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5518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600" dirty="0" smtClean="0"/>
              <a:t>Message </a:t>
            </a:r>
            <a:r>
              <a:rPr lang="en-US" sz="3600" dirty="0"/>
              <a:t>Queuing Telemetry </a:t>
            </a:r>
            <a:r>
              <a:rPr lang="en-US" sz="3600" dirty="0" smtClean="0"/>
              <a:t>Transport (MQTT)</a:t>
            </a:r>
            <a:r>
              <a:rPr lang="en-US" sz="3600" dirty="0" smtClean="0">
                <a:sym typeface="Wingdings" panose="05000000000000000000" pitchFamily="2" charset="2"/>
              </a:rPr>
              <a:t>.</a:t>
            </a:r>
            <a:endParaRPr lang="en-US" sz="3600" dirty="0">
              <a:sym typeface="Wingdings" panose="05000000000000000000" pitchFamily="2" charset="2"/>
            </a:endParaRPr>
          </a:p>
        </p:txBody>
      </p:sp>
      <p:sp>
        <p:nvSpPr>
          <p:cNvPr id="8" name="Объект 2"/>
          <p:cNvSpPr>
            <a:spLocks noGrp="1"/>
          </p:cNvSpPr>
          <p:nvPr>
            <p:ph idx="1"/>
          </p:nvPr>
        </p:nvSpPr>
        <p:spPr>
          <a:xfrm>
            <a:off x="381000" y="2939958"/>
            <a:ext cx="9307286" cy="685799"/>
          </a:xfrm>
        </p:spPr>
        <p:txBody>
          <a:bodyPr anchor="ctr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 smtClean="0"/>
              <a:t>Publish-subscribe</a:t>
            </a:r>
            <a:r>
              <a:rPr lang="en-US" sz="1800" dirty="0" smtClean="0"/>
              <a:t> network protocol.</a:t>
            </a:r>
          </a:p>
          <a:p>
            <a:pPr algn="just">
              <a:lnSpc>
                <a:spcPct val="150000"/>
              </a:lnSpc>
            </a:pPr>
            <a:r>
              <a:rPr lang="en-US" sz="1800" dirty="0" smtClean="0"/>
              <a:t>Publishers and subscribers </a:t>
            </a:r>
            <a:r>
              <a:rPr lang="en-US" sz="1800" b="1" dirty="0" smtClean="0"/>
              <a:t>not directly connected </a:t>
            </a:r>
            <a:r>
              <a:rPr lang="en-US" sz="1800" dirty="0" smtClean="0"/>
              <a:t>with zero dependency.</a:t>
            </a:r>
          </a:p>
          <a:p>
            <a:pPr marL="171450" indent="-171450">
              <a:lnSpc>
                <a:spcPct val="150000"/>
              </a:lnSpc>
            </a:pPr>
            <a:r>
              <a:rPr lang="en-US" sz="1800" dirty="0"/>
              <a:t>Broker: </a:t>
            </a:r>
            <a:r>
              <a:rPr lang="en-US" sz="1800" b="1" dirty="0"/>
              <a:t>filters</a:t>
            </a:r>
            <a:r>
              <a:rPr lang="en-US" sz="1800" dirty="0"/>
              <a:t> incoming messages and </a:t>
            </a:r>
            <a:r>
              <a:rPr lang="en-US" sz="1800" b="1" dirty="0"/>
              <a:t>distributes</a:t>
            </a:r>
            <a:r>
              <a:rPr lang="en-US" sz="1800" dirty="0"/>
              <a:t> them to subscribers.</a:t>
            </a:r>
          </a:p>
          <a:p>
            <a:pPr marL="171450" indent="-171450">
              <a:lnSpc>
                <a:spcPct val="150000"/>
              </a:lnSpc>
            </a:pPr>
            <a:r>
              <a:rPr lang="en-US" sz="1800" dirty="0"/>
              <a:t>Last will and testament </a:t>
            </a:r>
            <a:r>
              <a:rPr lang="en-US" sz="1800" dirty="0" smtClean="0"/>
              <a:t>(LWT): </a:t>
            </a:r>
            <a:r>
              <a:rPr lang="en-US" sz="1800" dirty="0"/>
              <a:t>handle abnormal client disconnection.</a:t>
            </a:r>
          </a:p>
          <a:p>
            <a:pPr marL="171450" indent="-171450">
              <a:lnSpc>
                <a:spcPct val="150000"/>
              </a:lnSpc>
            </a:pPr>
            <a:r>
              <a:rPr lang="en-US" sz="1800" dirty="0"/>
              <a:t>Retained messages: store the last </a:t>
            </a:r>
            <a:r>
              <a:rPr lang="en-US" sz="1800" dirty="0" err="1"/>
              <a:t>last</a:t>
            </a:r>
            <a:r>
              <a:rPr lang="en-US" sz="1800" dirty="0"/>
              <a:t> known good value</a:t>
            </a:r>
            <a:r>
              <a:rPr lang="en-US" sz="1800" dirty="0" smtClean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1800" dirty="0"/>
              <a:t>Lightweight, efficient for Constrained devices.</a:t>
            </a:r>
          </a:p>
          <a:p>
            <a:pPr algn="just">
              <a:lnSpc>
                <a:spcPct val="150000"/>
              </a:lnSpc>
            </a:pPr>
            <a:r>
              <a:rPr lang="en-US" sz="1800" dirty="0"/>
              <a:t>Real-Time Communication</a:t>
            </a:r>
          </a:p>
          <a:p>
            <a:pPr algn="just">
              <a:lnSpc>
                <a:spcPct val="150000"/>
              </a:lnSpc>
            </a:pPr>
            <a:r>
              <a:rPr lang="en-US" sz="1800" dirty="0"/>
              <a:t>Scalability.</a:t>
            </a:r>
          </a:p>
          <a:p>
            <a:pPr algn="just">
              <a:lnSpc>
                <a:spcPct val="150000"/>
              </a:lnSpc>
            </a:pPr>
            <a:r>
              <a:rPr lang="en-US" sz="1800" dirty="0"/>
              <a:t>Machine-to-machine (M2M) and </a:t>
            </a:r>
            <a:r>
              <a:rPr lang="en-US" sz="1800" dirty="0" err="1"/>
              <a:t>IoT</a:t>
            </a:r>
            <a:r>
              <a:rPr lang="en-US" sz="1800" dirty="0" smtClean="0"/>
              <a:t>.</a:t>
            </a:r>
            <a:endParaRPr lang="en-US" sz="1800" dirty="0"/>
          </a:p>
        </p:txBody>
      </p:sp>
      <p:pic>
        <p:nvPicPr>
          <p:cNvPr id="1028" name="Picture 4" descr="mqtt-architectur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2886" y="4015921"/>
            <a:ext cx="4492299" cy="236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152400" y="6538912"/>
            <a:ext cx="919379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Image source: </a:t>
            </a:r>
            <a:r>
              <a:rPr lang="en-US" sz="1100" dirty="0" smtClean="0">
                <a:hlinkClick r:id="rId4"/>
              </a:rPr>
              <a:t>https</a:t>
            </a:r>
            <a:r>
              <a:rPr lang="en-US" sz="1100" dirty="0">
                <a:hlinkClick r:id="rId4"/>
              </a:rPr>
              <a:t>://www.switchdoc.com/2020/01/tutorial-using-mqtt-on-switchdoc-labs-ourweather-station/mqtt-architecture</a:t>
            </a:r>
            <a:r>
              <a:rPr lang="en-US" sz="1100" dirty="0" smtClean="0">
                <a:hlinkClick r:id="rId4"/>
              </a:rPr>
              <a:t>/</a:t>
            </a:r>
            <a:r>
              <a:rPr lang="en-US" sz="1100" dirty="0" smtClean="0"/>
              <a:t> </a:t>
            </a:r>
            <a:endParaRPr lang="en-US" sz="1100" dirty="0"/>
          </a:p>
        </p:txBody>
      </p:sp>
      <p:sp>
        <p:nvSpPr>
          <p:cNvPr id="9" name="Rectangle 8"/>
          <p:cNvSpPr/>
          <p:nvPr/>
        </p:nvSpPr>
        <p:spPr>
          <a:xfrm>
            <a:off x="6256753" y="5888793"/>
            <a:ext cx="13003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Open Sans"/>
              </a:rPr>
              <a:t>Or Server</a:t>
            </a:r>
            <a:r>
              <a:rPr lang="en-US" b="1" dirty="0">
                <a:latin typeface="Open Sans"/>
              </a:rPr>
              <a:t> </a:t>
            </a:r>
            <a:endParaRPr lang="en-US" b="1" dirty="0"/>
          </a:p>
        </p:txBody>
      </p:sp>
      <p:sp>
        <p:nvSpPr>
          <p:cNvPr id="12" name="Объект 2"/>
          <p:cNvSpPr txBox="1">
            <a:spLocks/>
          </p:cNvSpPr>
          <p:nvPr/>
        </p:nvSpPr>
        <p:spPr>
          <a:xfrm>
            <a:off x="191712" y="3717038"/>
            <a:ext cx="7693777" cy="6857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endParaRPr lang="en-US" sz="1800" dirty="0" smtClean="0"/>
          </a:p>
        </p:txBody>
      </p:sp>
      <p:sp>
        <p:nvSpPr>
          <p:cNvPr id="13" name="Rectangle 12"/>
          <p:cNvSpPr/>
          <p:nvPr/>
        </p:nvSpPr>
        <p:spPr>
          <a:xfrm>
            <a:off x="152400" y="6041446"/>
            <a:ext cx="4212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/>
              <a:t>Public broker: </a:t>
            </a:r>
            <a:r>
              <a:rPr lang="en-US" b="1" dirty="0" smtClean="0">
                <a:hlinkClick r:id="rId5"/>
              </a:rPr>
              <a:t>https</a:t>
            </a:r>
            <a:r>
              <a:rPr lang="en-US" b="1" dirty="0">
                <a:hlinkClick r:id="rId5"/>
              </a:rPr>
              <a:t>://www.hivemq.com</a:t>
            </a:r>
            <a:r>
              <a:rPr lang="en-US" b="1" dirty="0" smtClean="0">
                <a:hlinkClick r:id="rId5"/>
              </a:rPr>
              <a:t>/</a:t>
            </a:r>
            <a:r>
              <a:rPr lang="en-US" b="1" dirty="0" smtClean="0"/>
              <a:t> </a:t>
            </a:r>
            <a:endParaRPr lang="en-US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8168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600" dirty="0" smtClean="0"/>
              <a:t>Message </a:t>
            </a:r>
            <a:r>
              <a:rPr lang="en-US" sz="3600" dirty="0"/>
              <a:t>Queuing Telemetry </a:t>
            </a:r>
            <a:r>
              <a:rPr lang="en-US" sz="3600" dirty="0" smtClean="0"/>
              <a:t>Transport (MQTT)</a:t>
            </a:r>
            <a:r>
              <a:rPr lang="en-US" sz="3600" dirty="0" smtClean="0">
                <a:sym typeface="Wingdings" panose="05000000000000000000" pitchFamily="2" charset="2"/>
              </a:rPr>
              <a:t>.</a:t>
            </a:r>
            <a:endParaRPr lang="en-US" sz="3600" dirty="0">
              <a:sym typeface="Wingdings" panose="05000000000000000000" pitchFamily="2" charset="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52400" y="6538912"/>
            <a:ext cx="919379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smtClean="0"/>
              <a:t>Image source: </a:t>
            </a:r>
            <a:r>
              <a:rPr lang="en-US" sz="1100" dirty="0">
                <a:hlinkClick r:id="rId3"/>
              </a:rPr>
              <a:t>https://</a:t>
            </a:r>
            <a:r>
              <a:rPr lang="en-US" sz="1100" dirty="0" smtClean="0">
                <a:hlinkClick r:id="rId3"/>
              </a:rPr>
              <a:t>devopedia.org/mqtt</a:t>
            </a:r>
            <a:r>
              <a:rPr lang="en-US" sz="1100" dirty="0" smtClean="0"/>
              <a:t> </a:t>
            </a:r>
            <a:endParaRPr lang="en-US" sz="1100" dirty="0"/>
          </a:p>
        </p:txBody>
      </p:sp>
      <p:pic>
        <p:nvPicPr>
          <p:cNvPr id="3074" name="Picture 2" descr="https://devopedia.org/images/article/10/4215.1529256993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417638"/>
            <a:ext cx="7909415" cy="4743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9471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Task3</a:t>
            </a:r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"/>
          </p:nvPr>
        </p:nvSpPr>
        <p:spPr>
          <a:xfrm>
            <a:off x="533400" y="2878139"/>
            <a:ext cx="8498941" cy="1752599"/>
          </a:xfrm>
        </p:spPr>
        <p:txBody>
          <a:bodyPr anchor="ctr">
            <a:noAutofit/>
          </a:bodyPr>
          <a:lstStyle/>
          <a:p>
            <a:pPr marL="457200" indent="-457200" algn="just">
              <a:lnSpc>
                <a:spcPct val="170000"/>
              </a:lnSpc>
              <a:buFont typeface="+mj-lt"/>
              <a:buAutoNum type="arabicPeriod"/>
            </a:pPr>
            <a:r>
              <a:rPr lang="en-US" sz="2400" dirty="0" smtClean="0"/>
              <a:t>Starting from task2, send only one value (for example v1).</a:t>
            </a:r>
          </a:p>
          <a:p>
            <a:pPr lvl="1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800" dirty="0" smtClean="0"/>
              <a:t>Sending </a:t>
            </a:r>
            <a:r>
              <a:rPr lang="en-US" sz="1800" dirty="0"/>
              <a:t>measurements to </a:t>
            </a:r>
            <a:r>
              <a:rPr lang="en-US" sz="1800" dirty="0" err="1" smtClean="0"/>
              <a:t>initialstate</a:t>
            </a:r>
            <a:r>
              <a:rPr lang="en-US" sz="1800" dirty="0" smtClean="0"/>
              <a:t> (</a:t>
            </a:r>
            <a:r>
              <a:rPr lang="en-US" sz="1800" dirty="0" smtClean="0">
                <a:hlinkClick r:id="rId3"/>
              </a:rPr>
              <a:t>https</a:t>
            </a:r>
            <a:r>
              <a:rPr lang="en-US" sz="1800" dirty="0">
                <a:hlinkClick r:id="rId3"/>
              </a:rPr>
              <a:t>://www.initialstate.com</a:t>
            </a:r>
            <a:r>
              <a:rPr lang="en-US" sz="1800" dirty="0" smtClean="0">
                <a:hlinkClick r:id="rId3"/>
              </a:rPr>
              <a:t>/</a:t>
            </a:r>
            <a:r>
              <a:rPr lang="en-US" sz="1800" dirty="0" smtClean="0"/>
              <a:t> ).</a:t>
            </a:r>
          </a:p>
          <a:p>
            <a:pPr lvl="1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endParaRPr lang="en-US" sz="1800" dirty="0" smtClean="0"/>
          </a:p>
          <a:p>
            <a:pPr lvl="1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1800" dirty="0" smtClean="0"/>
              <a:t>Sending measurements </a:t>
            </a:r>
            <a:r>
              <a:rPr lang="en-US" sz="1800" dirty="0"/>
              <a:t>to </a:t>
            </a:r>
            <a:r>
              <a:rPr lang="en-US" sz="1800" dirty="0">
                <a:sym typeface="Wingdings" panose="05000000000000000000" pitchFamily="2" charset="2"/>
              </a:rPr>
              <a:t>ubidots (</a:t>
            </a:r>
            <a:r>
              <a:rPr lang="en-US" sz="1800" dirty="0">
                <a:sym typeface="Wingdings" panose="05000000000000000000" pitchFamily="2" charset="2"/>
                <a:hlinkClick r:id="rId4"/>
              </a:rPr>
              <a:t>https://ubidots.com</a:t>
            </a:r>
            <a:r>
              <a:rPr lang="en-US" sz="1800" dirty="0" smtClean="0">
                <a:sym typeface="Wingdings" panose="05000000000000000000" pitchFamily="2" charset="2"/>
                <a:hlinkClick r:id="rId4"/>
              </a:rPr>
              <a:t>/</a:t>
            </a:r>
            <a:r>
              <a:rPr lang="en-US" sz="1800" dirty="0" smtClean="0">
                <a:sym typeface="Wingdings" panose="05000000000000000000" pitchFamily="2" charset="2"/>
              </a:rPr>
              <a:t> ): </a:t>
            </a:r>
            <a:r>
              <a:rPr lang="en-US" sz="1800" dirty="0">
                <a:sym typeface="Wingdings" panose="05000000000000000000" pitchFamily="2" charset="2"/>
              </a:rPr>
              <a:t>use Ubidots </a:t>
            </a:r>
            <a:r>
              <a:rPr lang="en-US" sz="1800" dirty="0" smtClean="0">
                <a:sym typeface="Wingdings" panose="05000000000000000000" pitchFamily="2" charset="2"/>
              </a:rPr>
              <a:t>out</a:t>
            </a:r>
          </a:p>
          <a:p>
            <a:pPr lvl="2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ym typeface="Wingdings" panose="05000000000000000000" pitchFamily="2" charset="2"/>
              </a:rPr>
              <a:t>In ubidots </a:t>
            </a:r>
            <a:r>
              <a:rPr lang="en-US" sz="2000" dirty="0">
                <a:sym typeface="Wingdings" panose="05000000000000000000" pitchFamily="2" charset="2"/>
              </a:rPr>
              <a:t>website,  create </a:t>
            </a:r>
            <a:r>
              <a:rPr lang="en-US" sz="2000" dirty="0" smtClean="0">
                <a:sym typeface="Wingdings" panose="05000000000000000000" pitchFamily="2" charset="2"/>
              </a:rPr>
              <a:t>new device, and get the TOKEN.</a:t>
            </a:r>
          </a:p>
          <a:p>
            <a:pPr lvl="2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ym typeface="Wingdings" panose="05000000000000000000" pitchFamily="2" charset="2"/>
              </a:rPr>
              <a:t>Add ubidots and set TOKEN in Node-Red.</a:t>
            </a:r>
          </a:p>
          <a:p>
            <a:pPr lvl="2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ym typeface="Wingdings" panose="05000000000000000000" pitchFamily="2" charset="2"/>
              </a:rPr>
              <a:t>Add dashboard in Ubidots.</a:t>
            </a:r>
          </a:p>
          <a:p>
            <a:pPr algn="just">
              <a:lnSpc>
                <a:spcPct val="170000"/>
              </a:lnSpc>
            </a:pPr>
            <a:endParaRPr lang="en-US" sz="2400" dirty="0"/>
          </a:p>
        </p:txBody>
      </p:sp>
      <p:sp>
        <p:nvSpPr>
          <p:cNvPr id="4" name="Rectangle 3"/>
          <p:cNvSpPr/>
          <p:nvPr/>
        </p:nvSpPr>
        <p:spPr>
          <a:xfrm>
            <a:off x="199984" y="6144282"/>
            <a:ext cx="45720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pPr lvl="1"/>
            <a:r>
              <a:rPr lang="en-US" sz="2000" dirty="0"/>
              <a:t>node-red-</a:t>
            </a:r>
            <a:r>
              <a:rPr lang="en-US" sz="2000" dirty="0" err="1"/>
              <a:t>contrib</a:t>
            </a:r>
            <a:r>
              <a:rPr lang="en-US" sz="2000" dirty="0"/>
              <a:t>-</a:t>
            </a:r>
            <a:r>
              <a:rPr lang="en-US" sz="2000" dirty="0" err="1"/>
              <a:t>initialstate</a:t>
            </a:r>
            <a:endParaRPr lang="en-US" sz="2000" dirty="0"/>
          </a:p>
          <a:p>
            <a:pPr lvl="1"/>
            <a:r>
              <a:rPr lang="en-US" sz="2000" dirty="0"/>
              <a:t>ubidots-</a:t>
            </a:r>
            <a:r>
              <a:rPr lang="en-US" sz="2000" dirty="0" err="1"/>
              <a:t>nodered</a:t>
            </a:r>
            <a:endParaRPr lang="en-US" sz="20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0400" y="2607042"/>
            <a:ext cx="1433513" cy="74575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591823"/>
            <a:ext cx="8077200" cy="61555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53975" lvl="2" algn="ctr">
              <a:lnSpc>
                <a:spcPct val="170000"/>
              </a:lnSpc>
            </a:pPr>
            <a:r>
              <a:rPr lang="en-US" sz="2000" dirty="0" smtClean="0">
                <a:sym typeface="Wingdings" panose="05000000000000000000" pitchFamily="2" charset="2"/>
              </a:rPr>
              <a:t>Don’t forget to report links to the dashboards</a:t>
            </a:r>
            <a:endParaRPr lang="en-US" sz="2000" dirty="0">
              <a:sym typeface="Wingdings" panose="05000000000000000000" pitchFamily="2" charset="2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5536" y="4313885"/>
            <a:ext cx="2038350" cy="800100"/>
          </a:xfrm>
          <a:prstGeom prst="rect">
            <a:avLst/>
          </a:prstGeom>
        </p:spPr>
      </p:pic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0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Task3</a:t>
            </a:r>
            <a:endParaRPr lang="ru-RU" dirty="0"/>
          </a:p>
        </p:txBody>
      </p:sp>
      <p:sp>
        <p:nvSpPr>
          <p:cNvPr id="5" name="Rectangle 4"/>
          <p:cNvSpPr/>
          <p:nvPr/>
        </p:nvSpPr>
        <p:spPr>
          <a:xfrm>
            <a:off x="685800" y="1752600"/>
            <a:ext cx="7315200" cy="1029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indent="-457200" algn="just">
              <a:lnSpc>
                <a:spcPct val="170000"/>
              </a:lnSpc>
              <a:spcBef>
                <a:spcPct val="20000"/>
              </a:spcBef>
              <a:buFont typeface="+mj-lt"/>
              <a:buAutoNum type="arabicPeriod" startAt="2"/>
            </a:pPr>
            <a:r>
              <a:rPr lang="en-US" sz="2000" dirty="0"/>
              <a:t>Sending measurements to </a:t>
            </a:r>
            <a:r>
              <a:rPr lang="en-US" sz="2000" dirty="0">
                <a:sym typeface="Wingdings" panose="05000000000000000000" pitchFamily="2" charset="2"/>
              </a:rPr>
              <a:t>MQTT.</a:t>
            </a:r>
          </a:p>
          <a:p>
            <a:pPr marL="1257300" lvl="2" indent="-342900" algn="just">
              <a:lnSpc>
                <a:spcPct val="170000"/>
              </a:lnSpc>
              <a:buFont typeface="Wingdings" panose="05000000000000000000" pitchFamily="2" charset="2"/>
              <a:buChar char="Ø"/>
            </a:pPr>
            <a:r>
              <a:rPr lang="en-US" dirty="0" smtClean="0"/>
              <a:t>MQTT </a:t>
            </a:r>
            <a:r>
              <a:rPr lang="en-US" dirty="0"/>
              <a:t>in(subscribe), MQTT out (publish). 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2202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Homework1</a:t>
            </a:r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"/>
          </p:nvPr>
        </p:nvSpPr>
        <p:spPr>
          <a:xfrm>
            <a:off x="304800" y="1371600"/>
            <a:ext cx="7010400" cy="2590800"/>
          </a:xfrm>
        </p:spPr>
        <p:txBody>
          <a:bodyPr anchor="ctr">
            <a:normAutofit fontScale="92500" lnSpcReduction="20000"/>
          </a:bodyPr>
          <a:lstStyle/>
          <a:p>
            <a:pPr marL="0" indent="0" algn="just">
              <a:lnSpc>
                <a:spcPct val="170000"/>
              </a:lnSpc>
              <a:buNone/>
            </a:pPr>
            <a:r>
              <a:rPr lang="en-US" sz="2400" b="1" dirty="0" smtClean="0"/>
              <a:t>Door bell system</a:t>
            </a:r>
            <a:r>
              <a:rPr lang="en-US" sz="2400" dirty="0" smtClean="0"/>
              <a:t>: Passive </a:t>
            </a:r>
            <a:r>
              <a:rPr lang="en-US" sz="2400" dirty="0"/>
              <a:t>infrared </a:t>
            </a:r>
            <a:r>
              <a:rPr lang="en-US" sz="2400" dirty="0" smtClean="0"/>
              <a:t>sensor (PIR) + Camera.</a:t>
            </a:r>
          </a:p>
          <a:p>
            <a:pPr algn="just">
              <a:lnSpc>
                <a:spcPct val="170000"/>
              </a:lnSpc>
            </a:pPr>
            <a:r>
              <a:rPr lang="en-US" sz="2400" dirty="0" smtClean="0"/>
              <a:t>In case the PIR is activated:</a:t>
            </a:r>
          </a:p>
          <a:p>
            <a:pPr lvl="1" algn="just">
              <a:lnSpc>
                <a:spcPct val="170000"/>
              </a:lnSpc>
            </a:pPr>
            <a:r>
              <a:rPr lang="en-US" sz="2000" dirty="0" smtClean="0"/>
              <a:t> take image from the camera, show the image in the node Red (in flow, not GUI).</a:t>
            </a:r>
          </a:p>
          <a:p>
            <a:pPr lvl="1" algn="just">
              <a:lnSpc>
                <a:spcPct val="170000"/>
              </a:lnSpc>
            </a:pPr>
            <a:r>
              <a:rPr lang="en-US" sz="2000" dirty="0" smtClean="0"/>
              <a:t>Save the image with file name represented by date and time.</a:t>
            </a:r>
            <a:endParaRPr lang="en-US" sz="2000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370114" y="4354286"/>
            <a:ext cx="87630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itchFamily="34" charset="0"/>
              <a:buNone/>
            </a:pPr>
            <a:r>
              <a:rPr lang="en-US" sz="2000" b="1" dirty="0" smtClean="0"/>
              <a:t>Support:</a:t>
            </a:r>
          </a:p>
          <a:p>
            <a:pPr marL="0" indent="0" algn="just">
              <a:buFont typeface="Arial" pitchFamily="34" charset="0"/>
              <a:buNone/>
            </a:pPr>
            <a:r>
              <a:rPr lang="en-US" sz="2000" dirty="0" smtClean="0"/>
              <a:t>PIR is simulated with inject node.</a:t>
            </a:r>
          </a:p>
          <a:p>
            <a:pPr marL="0" indent="0" algn="just">
              <a:buNone/>
            </a:pPr>
            <a:r>
              <a:rPr lang="en-US" sz="2000" dirty="0" smtClean="0"/>
              <a:t>Nodes: </a:t>
            </a:r>
            <a:r>
              <a:rPr lang="en-US" sz="2000" dirty="0" err="1" smtClean="0"/>
              <a:t>usbcamera</a:t>
            </a:r>
            <a:r>
              <a:rPr lang="en-US" sz="2000" dirty="0" smtClean="0"/>
              <a:t>, write file, image</a:t>
            </a:r>
          </a:p>
          <a:p>
            <a:pPr marL="0" indent="0" algn="just">
              <a:buNone/>
            </a:pPr>
            <a:r>
              <a:rPr lang="en-US" sz="2000" b="1" dirty="0" smtClean="0"/>
              <a:t>Install: </a:t>
            </a:r>
          </a:p>
          <a:p>
            <a:pPr marL="0" indent="0" algn="just">
              <a:buNone/>
            </a:pPr>
            <a:r>
              <a:rPr lang="en-US" sz="2000" dirty="0" smtClean="0"/>
              <a:t>node-red-</a:t>
            </a:r>
            <a:r>
              <a:rPr lang="en-US" sz="2000" dirty="0" err="1" smtClean="0"/>
              <a:t>contrib</a:t>
            </a:r>
            <a:r>
              <a:rPr lang="en-US" sz="2000" dirty="0" smtClean="0"/>
              <a:t>-</a:t>
            </a:r>
            <a:r>
              <a:rPr lang="en-US" sz="2000" dirty="0" err="1" smtClean="0"/>
              <a:t>usbcamera</a:t>
            </a:r>
            <a:endParaRPr lang="en-US" sz="2000" dirty="0" smtClean="0"/>
          </a:p>
          <a:p>
            <a:pPr marL="0" indent="0" algn="just">
              <a:buNone/>
            </a:pPr>
            <a:r>
              <a:rPr lang="en-US" sz="2000" dirty="0"/>
              <a:t>node-red-</a:t>
            </a:r>
            <a:r>
              <a:rPr lang="en-US" sz="2000" dirty="0" err="1"/>
              <a:t>contrib</a:t>
            </a:r>
            <a:r>
              <a:rPr lang="en-US" sz="2000" dirty="0"/>
              <a:t>-image-output </a:t>
            </a:r>
            <a:endParaRPr lang="en-US" sz="2000" dirty="0" smtClean="0"/>
          </a:p>
          <a:p>
            <a:pPr marL="0" indent="0" algn="just">
              <a:buNone/>
            </a:pPr>
            <a:endParaRPr lang="en-US" sz="2000" dirty="0"/>
          </a:p>
          <a:p>
            <a:pPr marL="0" indent="0" algn="just">
              <a:buNone/>
            </a:pPr>
            <a:endParaRPr lang="en-US" sz="2000" dirty="0" smtClean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1431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Homework2</a:t>
            </a:r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752599"/>
          </a:xfrm>
        </p:spPr>
        <p:txBody>
          <a:bodyPr anchor="ctr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/>
              <a:t>Starting from </a:t>
            </a:r>
            <a:r>
              <a:rPr lang="en-US" sz="2400" dirty="0" smtClean="0"/>
              <a:t>task2, </a:t>
            </a:r>
            <a:r>
              <a:rPr lang="en-US" sz="2400" dirty="0"/>
              <a:t>a</a:t>
            </a:r>
            <a:r>
              <a:rPr lang="en-US" sz="2400" dirty="0" smtClean="0"/>
              <a:t>dd </a:t>
            </a:r>
            <a:r>
              <a:rPr lang="en-US" sz="2400" dirty="0"/>
              <a:t>telegram bot for reporting about any </a:t>
            </a:r>
            <a:r>
              <a:rPr lang="en-US" sz="2400" dirty="0" smtClean="0"/>
              <a:t>abnormal </a:t>
            </a:r>
            <a:r>
              <a:rPr lang="en-US" sz="2400" dirty="0"/>
              <a:t>data values (</a:t>
            </a:r>
            <a:r>
              <a:rPr lang="en-US" sz="2400" dirty="0" smtClean="0"/>
              <a:t>higher </a:t>
            </a:r>
            <a:r>
              <a:rPr lang="en-US" sz="2400" dirty="0"/>
              <a:t>than </a:t>
            </a:r>
            <a:r>
              <a:rPr lang="en-US" sz="2400" dirty="0" smtClean="0"/>
              <a:t>threshold of 30). </a:t>
            </a:r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533400" y="3124199"/>
            <a:ext cx="8229600" cy="3232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70000"/>
              </a:lnSpc>
              <a:buFont typeface="Arial" pitchFamily="34" charset="0"/>
              <a:buNone/>
            </a:pPr>
            <a:r>
              <a:rPr lang="en-US" b="1" dirty="0" smtClean="0"/>
              <a:t>Support:</a:t>
            </a:r>
          </a:p>
          <a:p>
            <a:pPr algn="just">
              <a:lnSpc>
                <a:spcPct val="170000"/>
              </a:lnSpc>
            </a:pPr>
            <a:r>
              <a:rPr lang="en-US" sz="2900" dirty="0" smtClean="0"/>
              <a:t>Install </a:t>
            </a:r>
            <a:r>
              <a:rPr lang="en-US" sz="2900" dirty="0" err="1" smtClean="0"/>
              <a:t>telegrame</a:t>
            </a:r>
            <a:r>
              <a:rPr lang="en-US" sz="2900" dirty="0" smtClean="0"/>
              <a:t> inside node Red (from node Red or command line)</a:t>
            </a:r>
          </a:p>
          <a:p>
            <a:pPr marL="0" indent="0" algn="just">
              <a:lnSpc>
                <a:spcPct val="170000"/>
              </a:lnSpc>
              <a:buNone/>
            </a:pPr>
            <a:r>
              <a:rPr lang="en-US" sz="2900" dirty="0" smtClean="0"/>
              <a:t>	</a:t>
            </a:r>
            <a:r>
              <a:rPr lang="en-US" sz="2900" dirty="0" err="1" smtClean="0"/>
              <a:t>npm</a:t>
            </a:r>
            <a:r>
              <a:rPr lang="en-US" sz="2900" dirty="0" smtClean="0"/>
              <a:t> </a:t>
            </a:r>
            <a:r>
              <a:rPr lang="en-US" sz="2900" dirty="0"/>
              <a:t>install node-red-</a:t>
            </a:r>
            <a:r>
              <a:rPr lang="en-US" sz="2900" dirty="0" err="1"/>
              <a:t>contrib</a:t>
            </a:r>
            <a:r>
              <a:rPr lang="en-US" sz="2900" dirty="0"/>
              <a:t>-</a:t>
            </a:r>
            <a:r>
              <a:rPr lang="en-US" sz="2900" dirty="0" err="1"/>
              <a:t>telegrambot</a:t>
            </a:r>
            <a:r>
              <a:rPr lang="en-US" sz="2900" dirty="0"/>
              <a:t> --save</a:t>
            </a:r>
          </a:p>
          <a:p>
            <a:pPr algn="just">
              <a:lnSpc>
                <a:spcPct val="170000"/>
              </a:lnSpc>
            </a:pPr>
            <a:r>
              <a:rPr lang="en-US" sz="2900" dirty="0"/>
              <a:t>https://flows.nodered.org/node/node-red-contrib-telegrambot</a:t>
            </a:r>
            <a:endParaRPr lang="en-US" sz="2900" dirty="0" smtClean="0"/>
          </a:p>
          <a:p>
            <a:pPr algn="just">
              <a:lnSpc>
                <a:spcPct val="170000"/>
              </a:lnSpc>
            </a:pPr>
            <a:r>
              <a:rPr lang="en-US" sz="2900" dirty="0" smtClean="0"/>
              <a:t>@</a:t>
            </a:r>
            <a:r>
              <a:rPr lang="en-US" sz="2900" dirty="0" err="1" smtClean="0"/>
              <a:t>BotFather</a:t>
            </a:r>
            <a:r>
              <a:rPr lang="en-US" sz="2900" dirty="0"/>
              <a:t>: </a:t>
            </a:r>
            <a:r>
              <a:rPr lang="en-US" sz="2900" dirty="0" smtClean="0"/>
              <a:t>create bot telegram</a:t>
            </a:r>
          </a:p>
          <a:p>
            <a:pPr marL="0" indent="0" algn="just">
              <a:lnSpc>
                <a:spcPct val="170000"/>
              </a:lnSpc>
              <a:buFont typeface="Arial" pitchFamily="34" charset="0"/>
              <a:buNone/>
            </a:pPr>
            <a:endParaRPr lang="en-US" dirty="0" smtClean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0534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/>
              <a:t>Grading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310132"/>
              </p:ext>
            </p:extLst>
          </p:nvPr>
        </p:nvGraphicFramePr>
        <p:xfrm>
          <a:off x="190497" y="1048113"/>
          <a:ext cx="8724902" cy="5740275"/>
        </p:xfrm>
        <a:graphic>
          <a:graphicData uri="http://schemas.openxmlformats.org/drawingml/2006/table">
            <a:tbl>
              <a:tblPr firstRow="1" firstCol="1" bandRow="1"/>
              <a:tblGrid>
                <a:gridCol w="5607233">
                  <a:extLst>
                    <a:ext uri="{9D8B030D-6E8A-4147-A177-3AD203B41FA5}">
                      <a16:colId xmlns:a16="http://schemas.microsoft.com/office/drawing/2014/main" val="788344787"/>
                    </a:ext>
                  </a:extLst>
                </a:gridCol>
                <a:gridCol w="505916">
                  <a:extLst>
                    <a:ext uri="{9D8B030D-6E8A-4147-A177-3AD203B41FA5}">
                      <a16:colId xmlns:a16="http://schemas.microsoft.com/office/drawing/2014/main" val="2468681575"/>
                    </a:ext>
                  </a:extLst>
                </a:gridCol>
                <a:gridCol w="578907">
                  <a:extLst>
                    <a:ext uri="{9D8B030D-6E8A-4147-A177-3AD203B41FA5}">
                      <a16:colId xmlns:a16="http://schemas.microsoft.com/office/drawing/2014/main" val="956758079"/>
                    </a:ext>
                  </a:extLst>
                </a:gridCol>
                <a:gridCol w="374370">
                  <a:extLst>
                    <a:ext uri="{9D8B030D-6E8A-4147-A177-3AD203B41FA5}">
                      <a16:colId xmlns:a16="http://schemas.microsoft.com/office/drawing/2014/main" val="1948820443"/>
                    </a:ext>
                  </a:extLst>
                </a:gridCol>
                <a:gridCol w="267683">
                  <a:extLst>
                    <a:ext uri="{9D8B030D-6E8A-4147-A177-3AD203B41FA5}">
                      <a16:colId xmlns:a16="http://schemas.microsoft.com/office/drawing/2014/main" val="861332367"/>
                    </a:ext>
                  </a:extLst>
                </a:gridCol>
                <a:gridCol w="267683">
                  <a:extLst>
                    <a:ext uri="{9D8B030D-6E8A-4147-A177-3AD203B41FA5}">
                      <a16:colId xmlns:a16="http://schemas.microsoft.com/office/drawing/2014/main" val="3041470610"/>
                    </a:ext>
                  </a:extLst>
                </a:gridCol>
                <a:gridCol w="374370">
                  <a:extLst>
                    <a:ext uri="{9D8B030D-6E8A-4147-A177-3AD203B41FA5}">
                      <a16:colId xmlns:a16="http://schemas.microsoft.com/office/drawing/2014/main" val="1460663256"/>
                    </a:ext>
                  </a:extLst>
                </a:gridCol>
                <a:gridCol w="374370">
                  <a:extLst>
                    <a:ext uri="{9D8B030D-6E8A-4147-A177-3AD203B41FA5}">
                      <a16:colId xmlns:a16="http://schemas.microsoft.com/office/drawing/2014/main" val="1205934047"/>
                    </a:ext>
                  </a:extLst>
                </a:gridCol>
                <a:gridCol w="374370">
                  <a:extLst>
                    <a:ext uri="{9D8B030D-6E8A-4147-A177-3AD203B41FA5}">
                      <a16:colId xmlns:a16="http://schemas.microsoft.com/office/drawing/2014/main" val="2297895258"/>
                    </a:ext>
                  </a:extLst>
                </a:gridCol>
              </a:tblGrid>
              <a:tr h="436491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Score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7017327"/>
                  </a:ext>
                </a:extLst>
              </a:tr>
              <a:tr h="42677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 UDP: Sender and receiver locally in Node-red.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4016454"/>
                  </a:ext>
                </a:extLst>
              </a:tr>
              <a:tr h="42677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</a:t>
                      </a:r>
                      <a:r>
                        <a:rPr lang="en-US" sz="1600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TCP: TCP sender and receiver inside Nod-Red.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2615539"/>
                  </a:ext>
                </a:extLst>
              </a:tr>
              <a:tr h="109122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 HTTP: </a:t>
                      </a:r>
                    </a:p>
                    <a:p>
                      <a:pPr marL="342900" marR="0" lvl="0" indent="-3429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HTTP Get Request to </a:t>
                      </a:r>
                      <a:r>
                        <a:rPr lang="en-US" sz="1600" u="sng" dirty="0">
                          <a:solidFill>
                            <a:srgbClr val="0563C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  <a:hlinkClick r:id="rId3"/>
                        </a:rPr>
                        <a:t>www.example.com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342900" marR="0" lvl="0" indent="-3429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API to receive data with HTPP in node (Endpoint).</a:t>
                      </a:r>
                    </a:p>
                    <a:p>
                      <a:pPr marL="342900" marR="0" lvl="0" indent="-3429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HTTP POST Request to Node-RED from Node-Red.</a:t>
                      </a:r>
                    </a:p>
                    <a:p>
                      <a:pPr marL="342900" marR="0" lvl="0" indent="-3429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HTTP POST Request to Node-RED from 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cURL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command.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6141723"/>
                  </a:ext>
                </a:extLst>
              </a:tr>
              <a:tr h="21824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 Formate the numbers(round)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5864137"/>
                  </a:ext>
                </a:extLst>
              </a:tr>
              <a:tr h="21824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 Scale the water level from [0, 3.3] to [0,100].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7933660"/>
                  </a:ext>
                </a:extLst>
              </a:tr>
              <a:tr h="21824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 Toggle led if Temp &gt; 30;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7606179"/>
                  </a:ext>
                </a:extLst>
              </a:tr>
              <a:tr h="42677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3.1 Send data from Node-Red to initialstate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3561127"/>
                  </a:ext>
                </a:extLst>
              </a:tr>
              <a:tr h="42677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066800" algn="l"/>
                        </a:tabLs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 Send data from Node-Red to Ubidots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4347605"/>
                  </a:ext>
                </a:extLst>
              </a:tr>
              <a:tr h="42677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14375" algn="l"/>
                        </a:tabLs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Homework1: Capture image and save it.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018145"/>
                  </a:ext>
                </a:extLst>
              </a:tr>
              <a:tr h="426772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714375" algn="l"/>
                        </a:tabLs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Homework2: Telegram bot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4747" marR="6474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64747" marR="6474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8687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6969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Basic nodes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52600"/>
            <a:ext cx="2895600" cy="4525963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Inject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Debug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Change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Variable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Complete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Link in/out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Switch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Range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Trigger</a:t>
            </a:r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457200" y="3200400"/>
            <a:ext cx="8229600" cy="1752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itchFamily="34" charset="0"/>
              <a:buNone/>
            </a:pPr>
            <a:endParaRPr lang="en-US" dirty="0" smtClean="0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4953000" y="1733550"/>
            <a:ext cx="2895600" cy="45259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11"/>
            </a:pPr>
            <a:r>
              <a:rPr lang="en-US" sz="2400" dirty="0" smtClean="0"/>
              <a:t>Delay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en-US" sz="2400" dirty="0" smtClean="0"/>
              <a:t>Status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en-US" sz="2400" dirty="0" smtClean="0"/>
              <a:t>Template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en-US" sz="2400" dirty="0" smtClean="0"/>
              <a:t>Split</a:t>
            </a:r>
          </a:p>
          <a:p>
            <a:pPr marL="457200" indent="-457200">
              <a:buFont typeface="+mj-lt"/>
              <a:buAutoNum type="arabicPeriod" startAt="11"/>
            </a:pPr>
            <a:r>
              <a:rPr lang="en-US" sz="2400" dirty="0" smtClean="0"/>
              <a:t>Join</a:t>
            </a:r>
          </a:p>
          <a:p>
            <a:pPr marL="457200" indent="-457200">
              <a:buFont typeface="+mj-lt"/>
              <a:buAutoNum type="arabicPeriod" startAt="11"/>
            </a:pPr>
            <a:endParaRPr lang="en-US" sz="2400" dirty="0" smtClean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404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err="1" smtClean="0"/>
              <a:t>IoT</a:t>
            </a:r>
            <a:r>
              <a:rPr lang="en-US" dirty="0" smtClean="0"/>
              <a:t> cloud platforms</a:t>
            </a:r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"/>
          </p:nvPr>
        </p:nvSpPr>
        <p:spPr>
          <a:xfrm>
            <a:off x="457200" y="2133600"/>
            <a:ext cx="8229600" cy="3657600"/>
          </a:xfrm>
        </p:spPr>
        <p:txBody>
          <a:bodyPr anchor="ctr"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00B050"/>
                </a:solidFill>
              </a:rPr>
              <a:t>Node-Red</a:t>
            </a:r>
            <a:endParaRPr lang="en-US" dirty="0" smtClean="0"/>
          </a:p>
          <a:p>
            <a:pPr>
              <a:lnSpc>
                <a:spcPct val="170000"/>
              </a:lnSpc>
            </a:pPr>
            <a:r>
              <a:rPr lang="en-US" dirty="0" err="1" smtClean="0">
                <a:solidFill>
                  <a:srgbClr val="00B050"/>
                </a:solidFill>
              </a:rPr>
              <a:t>InitialState</a:t>
            </a:r>
            <a:endParaRPr lang="en-US" dirty="0" smtClean="0">
              <a:solidFill>
                <a:srgbClr val="00B050"/>
              </a:solidFill>
            </a:endParaRPr>
          </a:p>
          <a:p>
            <a:pPr>
              <a:lnSpc>
                <a:spcPct val="170000"/>
              </a:lnSpc>
            </a:pPr>
            <a:r>
              <a:rPr lang="en-US" dirty="0" smtClean="0">
                <a:solidFill>
                  <a:srgbClr val="00B050"/>
                </a:solidFill>
              </a:rPr>
              <a:t>Ubidots</a:t>
            </a:r>
          </a:p>
          <a:p>
            <a:pPr>
              <a:lnSpc>
                <a:spcPct val="170000"/>
              </a:lnSpc>
            </a:pPr>
            <a:r>
              <a:rPr lang="en-US" dirty="0" err="1" smtClean="0"/>
              <a:t>ThingSpeak</a:t>
            </a:r>
            <a:endParaRPr lang="en-US" dirty="0" smtClean="0"/>
          </a:p>
          <a:p>
            <a:pPr>
              <a:lnSpc>
                <a:spcPct val="170000"/>
              </a:lnSpc>
            </a:pPr>
            <a:r>
              <a:rPr lang="en-US" dirty="0" smtClean="0"/>
              <a:t>Arduino cloud</a:t>
            </a:r>
          </a:p>
          <a:p>
            <a:pPr>
              <a:lnSpc>
                <a:spcPct val="170000"/>
              </a:lnSpc>
            </a:pPr>
            <a:r>
              <a:rPr lang="en-US" dirty="0" err="1" smtClean="0"/>
              <a:t>Blynk</a:t>
            </a:r>
            <a:endParaRPr lang="en-US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50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External links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457200" y="1600200"/>
            <a:ext cx="8610600" cy="4525963"/>
          </a:xfrm>
        </p:spPr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nbdime.readthedocs.io/en/latest/nodevenv.html</a:t>
            </a:r>
            <a:r>
              <a:rPr lang="en-US" dirty="0" smtClean="0"/>
              <a:t> </a:t>
            </a:r>
          </a:p>
          <a:p>
            <a:r>
              <a:rPr lang="en-US" dirty="0">
                <a:hlinkClick r:id="rId3"/>
              </a:rPr>
              <a:t>https://flows.nodered.org/</a:t>
            </a:r>
            <a:r>
              <a:rPr lang="en-US" dirty="0"/>
              <a:t> </a:t>
            </a:r>
          </a:p>
          <a:p>
            <a:pPr marL="342900" lvl="1" indent="-342900">
              <a:buFont typeface="Arial" pitchFamily="34" charset="0"/>
              <a:buChar char="•"/>
            </a:pPr>
            <a:r>
              <a:rPr lang="en-US" sz="3200" dirty="0">
                <a:hlinkClick r:id="rId4"/>
              </a:rPr>
              <a:t>https://httpbin.org/</a:t>
            </a:r>
            <a:endParaRPr lang="en-US" sz="3200" dirty="0"/>
          </a:p>
          <a:p>
            <a:r>
              <a:rPr lang="en-US" dirty="0">
                <a:hlinkClick r:id="rId5"/>
              </a:rPr>
              <a:t>https://curl.se/docs/manpage.html</a:t>
            </a:r>
            <a:r>
              <a:rPr lang="en-US" dirty="0"/>
              <a:t> </a:t>
            </a:r>
          </a:p>
          <a:p>
            <a:r>
              <a:rPr lang="en-US" dirty="0"/>
              <a:t> </a:t>
            </a:r>
            <a:r>
              <a:rPr lang="en-US" dirty="0">
                <a:hlinkClick r:id="rId6"/>
              </a:rPr>
              <a:t>https://flowfuse.com/node-red/learn</a:t>
            </a:r>
            <a:r>
              <a:rPr lang="en-US" dirty="0" smtClean="0">
                <a:hlinkClick r:id="rId6"/>
              </a:rPr>
              <a:t>/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424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981200" y="2057400"/>
            <a:ext cx="67973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b="1" dirty="0" smtClean="0"/>
              <a:t>Thank you</a:t>
            </a:r>
            <a:endParaRPr lang="en-US" sz="9600" b="1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4745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981200" y="2057400"/>
            <a:ext cx="67973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 smtClean="0"/>
              <a:t>Support</a:t>
            </a:r>
            <a:endParaRPr lang="en-US" sz="9600" b="1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Introduction to IoT, 2026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8871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pPr algn="ctr"/>
            <a:r>
              <a:rPr lang="en-US" sz="4400" dirty="0" smtClean="0">
                <a:latin typeface="Calibri" pitchFamily="34" charset="0"/>
                <a:cs typeface="Calibri" pitchFamily="34" charset="0"/>
              </a:rPr>
              <a:t>Network</a:t>
            </a:r>
            <a:r>
              <a:rPr lang="en-US" sz="4400" i="1" dirty="0" smtClean="0">
                <a:latin typeface="Calibri" pitchFamily="34" charset="0"/>
                <a:cs typeface="Calibri" pitchFamily="34" charset="0"/>
              </a:rPr>
              <a:t> </a:t>
            </a:r>
            <a:r>
              <a:rPr lang="en-US" sz="4400" dirty="0" smtClean="0">
                <a:latin typeface="Calibri" pitchFamily="34" charset="0"/>
                <a:cs typeface="Calibri" pitchFamily="34" charset="0"/>
              </a:rPr>
              <a:t>basics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6" name="Picture 2" descr="C:\Users\Admin\Desktop\untitle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7537" y="2035282"/>
            <a:ext cx="3848100" cy="444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/>
          <p:cNvSpPr txBox="1"/>
          <p:nvPr/>
        </p:nvSpPr>
        <p:spPr>
          <a:xfrm>
            <a:off x="7901005" y="2712458"/>
            <a:ext cx="75328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www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094242" y="4797117"/>
            <a:ext cx="400622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ip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7984221" y="5345196"/>
            <a:ext cx="682751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mac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990600" y="479711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Router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990600" y="5340028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Switch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7957431" y="4283437"/>
            <a:ext cx="640432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port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291896" y="2713599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http/https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365373" y="4268222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tcp</a:t>
            </a:r>
            <a:r>
              <a:rPr lang="en-US" dirty="0" smtClean="0"/>
              <a:t>/</a:t>
            </a:r>
            <a:r>
              <a:rPr lang="en-US" dirty="0" err="1" smtClean="0"/>
              <a:t>udp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152400" y="1614320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Levels: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7667828" y="1620216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Address: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333312" y="1620216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Protocol: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1048308" y="161432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Device:</a:t>
            </a:r>
            <a:endParaRPr lang="ru-RU" dirty="0"/>
          </a:p>
        </p:txBody>
      </p:sp>
      <p:cxnSp>
        <p:nvCxnSpPr>
          <p:cNvPr id="3" name="Прямая соединительная линия 2"/>
          <p:cNvCxnSpPr/>
          <p:nvPr/>
        </p:nvCxnSpPr>
        <p:spPr>
          <a:xfrm>
            <a:off x="228600" y="3206857"/>
            <a:ext cx="8569835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9" name="Прямая соединительная линия 58"/>
          <p:cNvCxnSpPr/>
          <p:nvPr/>
        </p:nvCxnSpPr>
        <p:spPr>
          <a:xfrm>
            <a:off x="228600" y="3740257"/>
            <a:ext cx="8569835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0" name="Прямая соединительная линия 59"/>
          <p:cNvCxnSpPr/>
          <p:nvPr/>
        </p:nvCxnSpPr>
        <p:spPr>
          <a:xfrm>
            <a:off x="193165" y="4252884"/>
            <a:ext cx="8569835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1" name="Прямая соединительная линия 60"/>
          <p:cNvCxnSpPr/>
          <p:nvPr/>
        </p:nvCxnSpPr>
        <p:spPr>
          <a:xfrm>
            <a:off x="193165" y="4797117"/>
            <a:ext cx="8569835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2" name="Прямая соединительная линия 61"/>
          <p:cNvCxnSpPr/>
          <p:nvPr/>
        </p:nvCxnSpPr>
        <p:spPr>
          <a:xfrm>
            <a:off x="193165" y="5264257"/>
            <a:ext cx="8569835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3" name="Прямая соединительная линия 62"/>
          <p:cNvCxnSpPr/>
          <p:nvPr/>
        </p:nvCxnSpPr>
        <p:spPr>
          <a:xfrm>
            <a:off x="193165" y="5797657"/>
            <a:ext cx="8569835" cy="0"/>
          </a:xfrm>
          <a:prstGeom prst="line">
            <a:avLst/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79765" y="588552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66" name="TextBox 65"/>
          <p:cNvSpPr txBox="1"/>
          <p:nvPr/>
        </p:nvSpPr>
        <p:spPr>
          <a:xfrm>
            <a:off x="379765" y="5363662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67" name="TextBox 66"/>
          <p:cNvSpPr txBox="1"/>
          <p:nvPr/>
        </p:nvSpPr>
        <p:spPr>
          <a:xfrm>
            <a:off x="379765" y="481558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68" name="TextBox 67"/>
          <p:cNvSpPr txBox="1"/>
          <p:nvPr/>
        </p:nvSpPr>
        <p:spPr>
          <a:xfrm>
            <a:off x="379765" y="4268222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4</a:t>
            </a:r>
            <a:endParaRPr lang="ru-RU" dirty="0"/>
          </a:p>
        </p:txBody>
      </p:sp>
      <p:sp>
        <p:nvSpPr>
          <p:cNvPr id="69" name="TextBox 68"/>
          <p:cNvSpPr txBox="1"/>
          <p:nvPr/>
        </p:nvSpPr>
        <p:spPr>
          <a:xfrm>
            <a:off x="379765" y="374025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379765" y="320685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6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379765" y="272475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</a:t>
            </a:r>
            <a:endParaRPr lang="ru-RU" dirty="0"/>
          </a:p>
        </p:txBody>
      </p:sp>
      <p:sp>
        <p:nvSpPr>
          <p:cNvPr id="74" name="TextBox 73"/>
          <p:cNvSpPr txBox="1"/>
          <p:nvPr/>
        </p:nvSpPr>
        <p:spPr>
          <a:xfrm>
            <a:off x="6490821" y="483090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icmp</a:t>
            </a:r>
            <a:endParaRPr lang="ru-RU" dirty="0"/>
          </a:p>
        </p:txBody>
      </p:sp>
      <p:sp>
        <p:nvSpPr>
          <p:cNvPr id="75" name="TextBox 74"/>
          <p:cNvSpPr txBox="1"/>
          <p:nvPr/>
        </p:nvSpPr>
        <p:spPr>
          <a:xfrm>
            <a:off x="6568509" y="5340028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arp</a:t>
            </a:r>
            <a:endParaRPr lang="ru-RU" dirty="0"/>
          </a:p>
        </p:txBody>
      </p:sp>
      <p:sp>
        <p:nvSpPr>
          <p:cNvPr id="73" name="TextBox 72"/>
          <p:cNvSpPr txBox="1"/>
          <p:nvPr/>
        </p:nvSpPr>
        <p:spPr>
          <a:xfrm>
            <a:off x="17717" y="6562863"/>
            <a:ext cx="899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hlinkClick r:id="rId3"/>
              </a:rPr>
              <a:t>https://networkaffairs.wordpress.com/2013/10/24/the-osi-model-broken-down-into-fragments-and-the-headers/</a:t>
            </a:r>
            <a:endParaRPr lang="ru-RU" sz="1400" dirty="0"/>
          </a:p>
        </p:txBody>
      </p:sp>
      <p:sp>
        <p:nvSpPr>
          <p:cNvPr id="2" name="Rectangle 1"/>
          <p:cNvSpPr/>
          <p:nvPr/>
        </p:nvSpPr>
        <p:spPr>
          <a:xfrm>
            <a:off x="164590" y="1020480"/>
            <a:ext cx="607211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alibri" pitchFamily="34" charset="0"/>
                <a:ea typeface="+mj-ea"/>
                <a:cs typeface="Calibri" pitchFamily="34" charset="0"/>
              </a:rPr>
              <a:t>Open Systems </a:t>
            </a:r>
            <a:r>
              <a:rPr lang="en-US" sz="2800" dirty="0" smtClean="0">
                <a:latin typeface="Calibri" pitchFamily="34" charset="0"/>
                <a:ea typeface="+mj-ea"/>
                <a:cs typeface="Calibri" pitchFamily="34" charset="0"/>
              </a:rPr>
              <a:t>Intercommunication (OSI)</a:t>
            </a:r>
            <a:endParaRPr lang="en-US" sz="2800" dirty="0">
              <a:latin typeface="Calibri" pitchFamily="34" charset="0"/>
              <a:ea typeface="+mj-ea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1705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itchFamily="34" charset="0"/>
                <a:cs typeface="Calibri" pitchFamily="34" charset="0"/>
              </a:rPr>
              <a:t>Hypertext Transfer </a:t>
            </a:r>
            <a:r>
              <a:rPr lang="en-US" dirty="0" smtClean="0">
                <a:latin typeface="Calibri" pitchFamily="34" charset="0"/>
                <a:cs typeface="Calibri" pitchFamily="34" charset="0"/>
              </a:rPr>
              <a:t>Protocol (HTTP)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1600200"/>
            <a:ext cx="83058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It's an application protocol, meant to offer ways for clients to retrieve and operate with hypertext objects and components (including HTML pages, PNG </a:t>
            </a:r>
            <a:r>
              <a:rPr lang="en-US" sz="2000" dirty="0" smtClean="0"/>
              <a:t>images</a:t>
            </a:r>
            <a:r>
              <a:rPr lang="en-US" sz="2000" dirty="0"/>
              <a:t>, and so on). </a:t>
            </a:r>
            <a:r>
              <a:rPr lang="en-US" sz="2000" dirty="0" smtClean="0"/>
              <a:t>HTTP </a:t>
            </a:r>
            <a:r>
              <a:rPr lang="en-US" sz="2000" dirty="0"/>
              <a:t>is an </a:t>
            </a:r>
            <a:r>
              <a:rPr lang="en-US" sz="2000" i="1" dirty="0"/>
              <a:t>application protocol</a:t>
            </a:r>
            <a:r>
              <a:rPr lang="en-US" sz="2000" dirty="0"/>
              <a:t> - which means that it is directly consumed by applications.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439101"/>
            <a:ext cx="8267700" cy="92333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https://www.google.com/search?q=IoT&amp;oq=IoT&amp;gs_lcrp=EgZjaHJvbWUyBggAEEUYOTIGCAEQRRg7MgYIAhBFGDwyBggDEEUYPDIGCAQQRRhBMgYIBRBFGEEyBggGEEUYQdIBCDI4MzFqMGo5qAIAsAIA&amp;sourceid=chrome&amp;ie=UTF-8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3415324"/>
            <a:ext cx="4343400" cy="1995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343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itchFamily="34" charset="0"/>
                <a:cs typeface="Calibri" pitchFamily="34" charset="0"/>
              </a:rPr>
              <a:t>Hypertext Transfer </a:t>
            </a:r>
            <a:r>
              <a:rPr lang="en-US" dirty="0" smtClean="0">
                <a:latin typeface="Calibri" pitchFamily="34" charset="0"/>
                <a:cs typeface="Calibri" pitchFamily="34" charset="0"/>
              </a:rPr>
              <a:t>Protocol (HTTP)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Объект 2"/>
          <p:cNvSpPr txBox="1">
            <a:spLocks/>
          </p:cNvSpPr>
          <p:nvPr/>
        </p:nvSpPr>
        <p:spPr>
          <a:xfrm>
            <a:off x="457200" y="1417638"/>
            <a:ext cx="8534400" cy="2316162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itchFamily="34" charset="0"/>
              <a:buAutoNum type="arabicPeriod"/>
            </a:pPr>
            <a:r>
              <a:rPr lang="en-US" sz="2000" dirty="0"/>
              <a:t>HTTP/1.1</a:t>
            </a:r>
            <a:endParaRPr lang="en-US" sz="2000" dirty="0" smtClean="0"/>
          </a:p>
          <a:p>
            <a:pPr marL="514350" indent="-514350">
              <a:buFont typeface="Arial" pitchFamily="34" charset="0"/>
              <a:buAutoNum type="arabicPeriod"/>
            </a:pPr>
            <a:r>
              <a:rPr lang="en-US" sz="2000" dirty="0" smtClean="0"/>
              <a:t>GET / HEAD / POST / PUT / DELETE …</a:t>
            </a:r>
          </a:p>
          <a:p>
            <a:pPr marL="514350" indent="-514350">
              <a:buFont typeface="Arial" pitchFamily="34" charset="0"/>
              <a:buAutoNum type="arabicPeriod"/>
            </a:pPr>
            <a:r>
              <a:rPr lang="en-US" sz="2000" dirty="0"/>
              <a:t>Status </a:t>
            </a:r>
            <a:r>
              <a:rPr lang="en-US" sz="2000" dirty="0" smtClean="0"/>
              <a:t>codes</a:t>
            </a:r>
          </a:p>
          <a:p>
            <a:r>
              <a:rPr lang="en-US" sz="2000" dirty="0"/>
              <a:t>Informational 1XX</a:t>
            </a:r>
          </a:p>
          <a:p>
            <a:r>
              <a:rPr lang="en-US" sz="2000" dirty="0"/>
              <a:t>Successful 2XX</a:t>
            </a:r>
          </a:p>
          <a:p>
            <a:r>
              <a:rPr lang="en-US" sz="2000" dirty="0"/>
              <a:t>Redirection 3XX</a:t>
            </a:r>
          </a:p>
          <a:p>
            <a:r>
              <a:rPr lang="en-US" sz="2000" dirty="0"/>
              <a:t>Client Error 4XX</a:t>
            </a:r>
          </a:p>
          <a:p>
            <a:r>
              <a:rPr lang="en-US" sz="2000" dirty="0"/>
              <a:t>Server Error 5XX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6" name="Rectangle 5"/>
          <p:cNvSpPr/>
          <p:nvPr/>
        </p:nvSpPr>
        <p:spPr>
          <a:xfrm>
            <a:off x="5582970" y="1912805"/>
            <a:ext cx="3429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</a:rPr>
              <a:t>Check</a:t>
            </a:r>
            <a:r>
              <a:rPr lang="en-US" dirty="0" smtClean="0"/>
              <a:t> </a:t>
            </a:r>
            <a:r>
              <a:rPr lang="en-US" dirty="0" smtClean="0">
                <a:hlinkClick r:id="rId3"/>
              </a:rPr>
              <a:t>https</a:t>
            </a:r>
            <a:r>
              <a:rPr lang="en-US" dirty="0">
                <a:hlinkClick r:id="rId3"/>
              </a:rPr>
              <a:t>://httpbin.org</a:t>
            </a:r>
            <a:r>
              <a:rPr lang="en-US" dirty="0" smtClean="0">
                <a:hlinkClick r:id="rId3"/>
              </a:rPr>
              <a:t>/</a:t>
            </a:r>
            <a:endParaRPr lang="en-US" dirty="0" smtClean="0"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5048198"/>
            <a:ext cx="3152775" cy="157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405" y="2461023"/>
            <a:ext cx="5285704" cy="3990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93518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itchFamily="34" charset="0"/>
                <a:cs typeface="Calibri" pitchFamily="34" charset="0"/>
              </a:rPr>
              <a:t>Transmission Control 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Protocol(TCP)</a:t>
            </a:r>
            <a:br>
              <a:rPr lang="en-US" sz="3200" dirty="0" smtClean="0">
                <a:latin typeface="Calibri" pitchFamily="34" charset="0"/>
                <a:cs typeface="Calibri" pitchFamily="34" charset="0"/>
              </a:rPr>
            </a:br>
            <a:r>
              <a:rPr lang="en-US" sz="3200" dirty="0" smtClean="0">
                <a:latin typeface="Calibri" pitchFamily="34" charset="0"/>
                <a:cs typeface="Calibri" pitchFamily="34" charset="0"/>
              </a:rPr>
              <a:t>vs User </a:t>
            </a:r>
            <a:r>
              <a:rPr lang="en-US" sz="3200" dirty="0">
                <a:latin typeface="Calibri" pitchFamily="34" charset="0"/>
                <a:cs typeface="Calibri" pitchFamily="34" charset="0"/>
              </a:rPr>
              <a:t>Datagram 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Protocol (UDP)</a:t>
            </a:r>
            <a:endParaRPr lang="ru-RU" sz="3200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38077" y="1544811"/>
            <a:ext cx="6625547" cy="29607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447800" y="4343400"/>
            <a:ext cx="6011024" cy="2514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737762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Autofit/>
          </a:bodyPr>
          <a:lstStyle/>
          <a:p>
            <a:r>
              <a:rPr lang="en-US" sz="3200" dirty="0">
                <a:latin typeface="Calibri" pitchFamily="34" charset="0"/>
                <a:cs typeface="Calibri" pitchFamily="34" charset="0"/>
              </a:rPr>
              <a:t>Transmission Control 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Protocol(TCP)</a:t>
            </a:r>
            <a:br>
              <a:rPr lang="en-US" sz="3200" dirty="0" smtClean="0">
                <a:latin typeface="Calibri" pitchFamily="34" charset="0"/>
                <a:cs typeface="Calibri" pitchFamily="34" charset="0"/>
              </a:rPr>
            </a:br>
            <a:r>
              <a:rPr lang="en-US" sz="3200" dirty="0" smtClean="0">
                <a:latin typeface="Calibri" pitchFamily="34" charset="0"/>
                <a:cs typeface="Calibri" pitchFamily="34" charset="0"/>
              </a:rPr>
              <a:t>vs User </a:t>
            </a:r>
            <a:r>
              <a:rPr lang="en-US" sz="3200" dirty="0">
                <a:latin typeface="Calibri" pitchFamily="34" charset="0"/>
                <a:cs typeface="Calibri" pitchFamily="34" charset="0"/>
              </a:rPr>
              <a:t>Datagram 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Protocol (UDP)</a:t>
            </a:r>
            <a:endParaRPr lang="ru-RU" sz="3200" dirty="0">
              <a:latin typeface="Calibri" pitchFamily="34" charset="0"/>
              <a:cs typeface="Calibri" pitchFamily="34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/>
          </p:nvPr>
        </p:nvGraphicFramePr>
        <p:xfrm>
          <a:off x="228600" y="1600200"/>
          <a:ext cx="8686800" cy="498805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4495800">
                  <a:extLst>
                    <a:ext uri="{9D8B030D-6E8A-4147-A177-3AD203B41FA5}">
                      <a16:colId xmlns:a16="http://schemas.microsoft.com/office/drawing/2014/main" val="2702083852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723150605"/>
                    </a:ext>
                  </a:extLst>
                </a:gridCol>
              </a:tblGrid>
              <a:tr h="59789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UDP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TCP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4026939"/>
                  </a:ext>
                </a:extLst>
              </a:tr>
              <a:tr h="59789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No handshake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 smtClean="0">
                          <a:solidFill>
                            <a:srgbClr val="00B050"/>
                          </a:solidFill>
                        </a:rPr>
                        <a:t>handshake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725602"/>
                  </a:ext>
                </a:extLst>
              </a:tr>
              <a:tr h="59789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does not guarantee delivery NOR order.</a:t>
                      </a:r>
                      <a:endParaRPr lang="en-US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No congestion control.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guarantee delivery and order</a:t>
                      </a:r>
                      <a:endParaRPr lang="en-US" sz="1800" b="1" dirty="0" smtClean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7428721"/>
                  </a:ext>
                </a:extLst>
              </a:tr>
              <a:tr h="111037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>
                          <a:solidFill>
                            <a:srgbClr val="00B050"/>
                          </a:solidFill>
                        </a:rPr>
                        <a:t>UDP is simpler and more efficient (speed).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just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 smtClean="0"/>
                        <a:t>Heavyweight. TCP handles reliability and congestion control.</a:t>
                      </a:r>
                    </a:p>
                    <a:p>
                      <a:pPr marL="285750" indent="-285750" algn="just">
                        <a:buFont typeface="Arial" panose="020B0604020202020204" pitchFamily="34" charset="0"/>
                        <a:buChar char="•"/>
                      </a:pPr>
                      <a:r>
                        <a:rPr lang="en-US" sz="1800" dirty="0" smtClean="0"/>
                        <a:t>detect packet losses and adjust transmission speed accordingly.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144967"/>
                  </a:ext>
                </a:extLst>
              </a:tr>
              <a:tr h="187909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Applications</a:t>
                      </a:r>
                      <a:r>
                        <a:rPr lang="en-US" dirty="0" smtClean="0"/>
                        <a:t>: time-sensitive communications where occasionally dropping packets is better than waiting.</a:t>
                      </a:r>
                    </a:p>
                    <a:p>
                      <a:pPr marL="0" marR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Streaming media applications such as movies.</a:t>
                      </a:r>
                    </a:p>
                    <a:p>
                      <a:pPr fontAlgn="base"/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multiplayer games</a:t>
                      </a:r>
                    </a:p>
                    <a:p>
                      <a:pPr fontAlgn="base"/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Voice over IP (VoIP)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 smtClean="0"/>
                        <a:t>Applications</a:t>
                      </a:r>
                      <a:r>
                        <a:rPr lang="en-US" sz="1800" dirty="0" smtClean="0"/>
                        <a:t>: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World Wide Web(HTTP)</a:t>
                      </a:r>
                    </a:p>
                    <a:p>
                      <a:pPr fontAlgn="base"/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 (SMTP TCP)</a:t>
                      </a:r>
                    </a:p>
                    <a:p>
                      <a:pPr fontAlgn="base"/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File Transfer Protocol (FTP)</a:t>
                      </a:r>
                    </a:p>
                    <a:p>
                      <a:pPr fontAlgn="base"/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Secure Shell (SSH)</a:t>
                      </a:r>
                    </a:p>
                    <a:p>
                      <a:pPr fontAlgn="base"/>
                      <a:r>
                        <a:rPr lang="en-US" sz="1800" dirty="0" smtClean="0"/>
                        <a:t>remote administration</a:t>
                      </a:r>
                      <a:endParaRPr lang="en-US" sz="18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0003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758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Autofit/>
          </a:bodyPr>
          <a:lstStyle/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HTTP vs. MQTT</a:t>
            </a:r>
            <a:endParaRPr lang="ru-RU" sz="3200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4098" name="Picture 2" descr="Comparing MQTT against HTTP. Source: FIWARE 202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417638"/>
            <a:ext cx="6272460" cy="498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600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itchFamily="34" charset="0"/>
                <a:cs typeface="Calibri" pitchFamily="34" charset="0"/>
              </a:rPr>
              <a:t>Hypertext Transfer </a:t>
            </a:r>
            <a:r>
              <a:rPr lang="en-US" dirty="0" smtClean="0">
                <a:latin typeface="Calibri" pitchFamily="34" charset="0"/>
                <a:cs typeface="Calibri" pitchFamily="34" charset="0"/>
              </a:rPr>
              <a:t>Protocol (HTTP)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400800" y="5846802"/>
            <a:ext cx="274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/>
            <a:r>
              <a:rPr lang="en-US" dirty="0" smtClean="0"/>
              <a:t>              Servers: </a:t>
            </a:r>
          </a:p>
          <a:p>
            <a:pPr marL="0" lvl="1"/>
            <a:r>
              <a:rPr lang="en-US" dirty="0" smtClean="0">
                <a:hlinkClick r:id="rId3"/>
              </a:rPr>
              <a:t>https</a:t>
            </a:r>
            <a:r>
              <a:rPr lang="en-US" dirty="0">
                <a:hlinkClick r:id="rId3"/>
              </a:rPr>
              <a:t>://</a:t>
            </a:r>
            <a:r>
              <a:rPr lang="en-US" dirty="0" smtClean="0">
                <a:hlinkClick r:id="rId3"/>
              </a:rPr>
              <a:t>httpbin.org/</a:t>
            </a:r>
            <a:endParaRPr lang="en-US" dirty="0"/>
          </a:p>
          <a:p>
            <a:pPr marL="0" lvl="1"/>
            <a:r>
              <a:rPr lang="en-US" b="1" dirty="0" smtClean="0">
                <a:solidFill>
                  <a:srgbClr val="00B050"/>
                </a:solidFill>
                <a:hlinkClick r:id="rId4"/>
              </a:rPr>
              <a:t>https</a:t>
            </a:r>
            <a:r>
              <a:rPr lang="en-US" b="1" dirty="0">
                <a:solidFill>
                  <a:srgbClr val="00B050"/>
                </a:solidFill>
                <a:hlinkClick r:id="rId4"/>
              </a:rPr>
              <a:t>://</a:t>
            </a:r>
            <a:r>
              <a:rPr lang="en-US" dirty="0" smtClean="0">
                <a:solidFill>
                  <a:srgbClr val="00B050"/>
                </a:solidFill>
                <a:hlinkClick r:id="rId4"/>
              </a:rPr>
              <a:t>www.example.com</a:t>
            </a:r>
            <a:r>
              <a:rPr lang="en-US" dirty="0" smtClean="0">
                <a:solidFill>
                  <a:srgbClr val="00B050"/>
                </a:solidFill>
              </a:rPr>
              <a:t>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8124" y="1244539"/>
            <a:ext cx="9058275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HTTP is one of protocols supported by curl command (run in command line)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curl -</a:t>
            </a:r>
            <a:r>
              <a:rPr lang="en-US" dirty="0" err="1" smtClean="0"/>
              <a:t>iX</a:t>
            </a:r>
            <a:r>
              <a:rPr lang="en-US" dirty="0" smtClean="0"/>
              <a:t> </a:t>
            </a:r>
            <a:r>
              <a:rPr lang="en-US" dirty="0"/>
              <a:t>GET </a:t>
            </a:r>
            <a:r>
              <a:rPr lang="en-US" dirty="0" smtClean="0"/>
              <a:t>"https</a:t>
            </a:r>
            <a:r>
              <a:rPr lang="en-US" dirty="0"/>
              <a:t>://</a:t>
            </a:r>
            <a:r>
              <a:rPr lang="en-US" dirty="0" smtClean="0"/>
              <a:t>httpbin.org/get" -d </a:t>
            </a:r>
            <a:r>
              <a:rPr lang="en-US" dirty="0"/>
              <a:t>‘{“v1”:100}’ </a:t>
            </a:r>
            <a:r>
              <a:rPr lang="en-US" dirty="0" smtClean="0"/>
              <a:t>-</a:t>
            </a:r>
            <a:r>
              <a:rPr lang="en-US" dirty="0"/>
              <a:t>H "accept: </a:t>
            </a:r>
            <a:r>
              <a:rPr lang="en-US" dirty="0" smtClean="0"/>
              <a:t>application/</a:t>
            </a:r>
            <a:r>
              <a:rPr lang="en-US" dirty="0" err="1" smtClean="0"/>
              <a:t>json</a:t>
            </a:r>
            <a:r>
              <a:rPr lang="en-US" dirty="0" smtClean="0"/>
              <a:t>“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curl -</a:t>
            </a:r>
            <a:r>
              <a:rPr lang="en-US" dirty="0" err="1" smtClean="0"/>
              <a:t>iX</a:t>
            </a:r>
            <a:r>
              <a:rPr lang="en-US" dirty="0" smtClean="0"/>
              <a:t> </a:t>
            </a:r>
            <a:r>
              <a:rPr lang="en-US" dirty="0"/>
              <a:t>POST "</a:t>
            </a:r>
            <a:r>
              <a:rPr lang="en-US" b="1" dirty="0"/>
              <a:t>https://httpbin.org/post</a:t>
            </a:r>
            <a:r>
              <a:rPr lang="en-US" dirty="0"/>
              <a:t>" </a:t>
            </a:r>
            <a:r>
              <a:rPr lang="en-US" dirty="0" smtClean="0"/>
              <a:t>-d </a:t>
            </a:r>
            <a:r>
              <a:rPr lang="en-US" dirty="0"/>
              <a:t>‘{“v1”:100}’ </a:t>
            </a:r>
            <a:r>
              <a:rPr lang="en-US" dirty="0" smtClean="0"/>
              <a:t>-</a:t>
            </a:r>
            <a:r>
              <a:rPr lang="en-US" dirty="0"/>
              <a:t>H "accept: application/</a:t>
            </a:r>
            <a:r>
              <a:rPr lang="en-US" dirty="0" err="1"/>
              <a:t>json</a:t>
            </a:r>
            <a:r>
              <a:rPr lang="en-US" dirty="0"/>
              <a:t>“</a:t>
            </a:r>
          </a:p>
          <a:p>
            <a:pPr lvl="1" algn="just">
              <a:lnSpc>
                <a:spcPct val="150000"/>
              </a:lnSpc>
            </a:pPr>
            <a:r>
              <a:rPr lang="en-US" dirty="0"/>
              <a:t>curl </a:t>
            </a:r>
            <a:r>
              <a:rPr lang="en-US" dirty="0" smtClean="0"/>
              <a:t>-</a:t>
            </a:r>
            <a:r>
              <a:rPr lang="en-US" dirty="0" err="1" smtClean="0"/>
              <a:t>iX</a:t>
            </a:r>
            <a:r>
              <a:rPr lang="en-US" dirty="0" smtClean="0"/>
              <a:t> </a:t>
            </a:r>
            <a:r>
              <a:rPr lang="en-US" dirty="0"/>
              <a:t>GET "</a:t>
            </a:r>
            <a:r>
              <a:rPr lang="en-US" b="1" dirty="0">
                <a:solidFill>
                  <a:srgbClr val="00B050"/>
                </a:solidFill>
              </a:rPr>
              <a:t>https://</a:t>
            </a:r>
            <a:r>
              <a:rPr lang="en-US" dirty="0">
                <a:solidFill>
                  <a:srgbClr val="00B050"/>
                </a:solidFill>
              </a:rPr>
              <a:t>www.example.com</a:t>
            </a:r>
            <a:r>
              <a:rPr lang="en-US" dirty="0"/>
              <a:t>" </a:t>
            </a:r>
            <a:r>
              <a:rPr lang="en-US" dirty="0" smtClean="0"/>
              <a:t>-</a:t>
            </a:r>
            <a:r>
              <a:rPr lang="en-US" dirty="0"/>
              <a:t>H "accept: application/</a:t>
            </a:r>
            <a:r>
              <a:rPr lang="en-US" dirty="0" err="1"/>
              <a:t>json</a:t>
            </a:r>
            <a:r>
              <a:rPr lang="en-US" dirty="0" smtClean="0"/>
              <a:t>“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curl </a:t>
            </a:r>
            <a:r>
              <a:rPr lang="en-US" dirty="0"/>
              <a:t>-</a:t>
            </a:r>
            <a:r>
              <a:rPr lang="en-US" dirty="0" err="1"/>
              <a:t>iX</a:t>
            </a:r>
            <a:r>
              <a:rPr lang="en-US" dirty="0"/>
              <a:t> POST "https://www.example.com" -d '{"v1":100}' -H "accept: </a:t>
            </a:r>
            <a:r>
              <a:rPr lang="en-US" dirty="0" smtClean="0"/>
              <a:t>application/</a:t>
            </a:r>
            <a:r>
              <a:rPr lang="en-US" dirty="0" err="1" smtClean="0"/>
              <a:t>json</a:t>
            </a:r>
            <a:r>
              <a:rPr lang="en-US" dirty="0" smtClean="0"/>
              <a:t>“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 smtClean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/>
              <a:t>Python </a:t>
            </a:r>
            <a:r>
              <a:rPr lang="en-US" sz="2000" b="1" dirty="0"/>
              <a:t>implementation </a:t>
            </a:r>
            <a:r>
              <a:rPr lang="en-US" sz="2000" b="1" dirty="0" smtClean="0"/>
              <a:t>of </a:t>
            </a:r>
            <a:r>
              <a:rPr lang="en-US" sz="2000" b="1" dirty="0"/>
              <a:t>HTTP – </a:t>
            </a:r>
            <a:r>
              <a:rPr lang="en-US" sz="2000" b="1" dirty="0" smtClean="0"/>
              <a:t>requests</a:t>
            </a:r>
          </a:p>
          <a:p>
            <a:pPr lvl="1" algn="just">
              <a:lnSpc>
                <a:spcPct val="150000"/>
              </a:lnSpc>
            </a:pPr>
            <a:r>
              <a:rPr lang="en-US" b="1" dirty="0" smtClean="0">
                <a:solidFill>
                  <a:srgbClr val="00B050"/>
                </a:solidFill>
              </a:rPr>
              <a:t>Installation</a:t>
            </a:r>
            <a:r>
              <a:rPr lang="en-US" b="1" dirty="0"/>
              <a:t>: </a:t>
            </a:r>
            <a:r>
              <a:rPr lang="en-US" dirty="0"/>
              <a:t>pip install </a:t>
            </a:r>
            <a:r>
              <a:rPr lang="en-US" dirty="0" smtClean="0"/>
              <a:t>requests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Import </a:t>
            </a:r>
            <a:r>
              <a:rPr lang="en-US" dirty="0"/>
              <a:t>requests 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r </a:t>
            </a:r>
            <a:r>
              <a:rPr lang="en-US" dirty="0"/>
              <a:t>= </a:t>
            </a:r>
            <a:r>
              <a:rPr lang="en-US" dirty="0" err="1"/>
              <a:t>requests.get</a:t>
            </a:r>
            <a:r>
              <a:rPr lang="en-US" dirty="0"/>
              <a:t>("</a:t>
            </a:r>
            <a:r>
              <a:rPr lang="en-US" b="1" dirty="0"/>
              <a:t>https://httpbin.org/get</a:t>
            </a:r>
            <a:r>
              <a:rPr lang="en-US" dirty="0"/>
              <a:t>", data </a:t>
            </a:r>
            <a:r>
              <a:rPr lang="en-US" dirty="0" smtClean="0"/>
              <a:t>= payload)</a:t>
            </a:r>
          </a:p>
          <a:p>
            <a:pPr lvl="1" algn="just">
              <a:lnSpc>
                <a:spcPct val="150000"/>
              </a:lnSpc>
            </a:pPr>
            <a:r>
              <a:rPr lang="en-US" dirty="0" smtClean="0"/>
              <a:t>print(</a:t>
            </a:r>
            <a:r>
              <a:rPr lang="en-US" dirty="0" err="1" smtClean="0"/>
              <a:t>r.status_code</a:t>
            </a:r>
            <a:r>
              <a:rPr lang="en-US" dirty="0" smtClean="0"/>
              <a:t>,</a:t>
            </a:r>
            <a:r>
              <a:rPr lang="en-US" dirty="0"/>
              <a:t> </a:t>
            </a:r>
            <a:r>
              <a:rPr lang="en-US" dirty="0" err="1" smtClean="0"/>
              <a:t>r.content</a:t>
            </a:r>
            <a:r>
              <a:rPr lang="en-US" dirty="0" smtClean="0"/>
              <a:t>,</a:t>
            </a:r>
            <a:r>
              <a:rPr lang="en-US" dirty="0"/>
              <a:t> </a:t>
            </a:r>
            <a:r>
              <a:rPr lang="en-US" dirty="0" err="1" smtClean="0"/>
              <a:t>r.text</a:t>
            </a:r>
            <a:r>
              <a:rPr lang="en-US" dirty="0" smtClean="0"/>
              <a:t>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6400800"/>
            <a:ext cx="35458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5"/>
              </a:rPr>
              <a:t>https://</a:t>
            </a:r>
            <a:r>
              <a:rPr lang="en-US" dirty="0" smtClean="0">
                <a:hlinkClick r:id="rId5"/>
              </a:rPr>
              <a:t>curl.se/docs/manpage.html</a:t>
            </a:r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728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UDP/TCP implementation in python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524000"/>
            <a:ext cx="298420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/>
              <a:t>UDP sender</a:t>
            </a:r>
            <a:endParaRPr lang="en-US" sz="2400" b="1" dirty="0"/>
          </a:p>
        </p:txBody>
      </p:sp>
      <p:sp>
        <p:nvSpPr>
          <p:cNvPr id="11" name="Rectangle 10"/>
          <p:cNvSpPr/>
          <p:nvPr/>
        </p:nvSpPr>
        <p:spPr>
          <a:xfrm>
            <a:off x="657225" y="2286000"/>
            <a:ext cx="7829550" cy="40386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import socket</a:t>
            </a:r>
          </a:p>
          <a:p>
            <a:r>
              <a:rPr lang="en-US" dirty="0"/>
              <a:t>import </a:t>
            </a:r>
            <a:r>
              <a:rPr lang="en-US" dirty="0" err="1"/>
              <a:t>json</a:t>
            </a:r>
            <a:endParaRPr lang="en-US" dirty="0"/>
          </a:p>
          <a:p>
            <a:r>
              <a:rPr lang="en-US" dirty="0"/>
              <a:t>UDP_IP = "127.0.0.1"</a:t>
            </a:r>
          </a:p>
          <a:p>
            <a:r>
              <a:rPr lang="en-US" dirty="0"/>
              <a:t>UDP_PORT = 60000</a:t>
            </a:r>
          </a:p>
          <a:p>
            <a:endParaRPr lang="en-US" dirty="0" smtClean="0"/>
          </a:p>
          <a:p>
            <a:r>
              <a:rPr lang="en-US" dirty="0" smtClean="0"/>
              <a:t>while </a:t>
            </a:r>
            <a:r>
              <a:rPr lang="en-US" dirty="0"/>
              <a:t>True:</a:t>
            </a:r>
          </a:p>
          <a:p>
            <a:r>
              <a:rPr lang="en-US" dirty="0"/>
              <a:t>    </a:t>
            </a:r>
            <a:r>
              <a:rPr lang="en-US" dirty="0" err="1"/>
              <a:t>msg</a:t>
            </a:r>
            <a:r>
              <a:rPr lang="en-US" dirty="0"/>
              <a:t> = input("message")</a:t>
            </a:r>
          </a:p>
          <a:p>
            <a:r>
              <a:rPr lang="en-US" dirty="0"/>
              <a:t>    m = {"</a:t>
            </a:r>
            <a:r>
              <a:rPr lang="en-US" dirty="0" err="1"/>
              <a:t>type":"info</a:t>
            </a:r>
            <a:r>
              <a:rPr lang="en-US" dirty="0"/>
              <a:t>", "id": 2, "name": "</a:t>
            </a:r>
            <a:r>
              <a:rPr lang="en-US" dirty="0" err="1"/>
              <a:t>abc</a:t>
            </a:r>
            <a:r>
              <a:rPr lang="en-US" dirty="0"/>
              <a:t>", "</a:t>
            </a:r>
            <a:r>
              <a:rPr lang="en-US" dirty="0" err="1"/>
              <a:t>msg</a:t>
            </a:r>
            <a:r>
              <a:rPr lang="en-US" dirty="0"/>
              <a:t>":</a:t>
            </a:r>
            <a:r>
              <a:rPr lang="en-US" dirty="0" err="1"/>
              <a:t>msg</a:t>
            </a:r>
            <a:r>
              <a:rPr lang="en-US" dirty="0"/>
              <a:t>} # a real </a:t>
            </a:r>
            <a:r>
              <a:rPr lang="en-US" dirty="0" err="1"/>
              <a:t>dict</a:t>
            </a:r>
            <a:endParaRPr lang="en-US" dirty="0"/>
          </a:p>
          <a:p>
            <a:r>
              <a:rPr lang="en-US" dirty="0"/>
              <a:t>    data = </a:t>
            </a:r>
            <a:r>
              <a:rPr lang="en-US" dirty="0" err="1"/>
              <a:t>json.dumps</a:t>
            </a:r>
            <a:r>
              <a:rPr lang="en-US" dirty="0"/>
              <a:t>(m)</a:t>
            </a:r>
          </a:p>
          <a:p>
            <a:r>
              <a:rPr lang="en-US" dirty="0"/>
              <a:t>    with </a:t>
            </a:r>
            <a:r>
              <a:rPr lang="en-US" dirty="0" err="1"/>
              <a:t>socket.socket</a:t>
            </a:r>
            <a:r>
              <a:rPr lang="en-US" dirty="0"/>
              <a:t>(</a:t>
            </a:r>
            <a:r>
              <a:rPr lang="en-US" dirty="0" err="1"/>
              <a:t>socket.AF_INET</a:t>
            </a:r>
            <a:r>
              <a:rPr lang="en-US" dirty="0"/>
              <a:t>, </a:t>
            </a:r>
            <a:r>
              <a:rPr lang="en-US" dirty="0" err="1"/>
              <a:t>socket.</a:t>
            </a:r>
            <a:r>
              <a:rPr lang="en-US" b="1" dirty="0" err="1">
                <a:solidFill>
                  <a:srgbClr val="00B050"/>
                </a:solidFill>
              </a:rPr>
              <a:t>SOCK_DGRAM</a:t>
            </a:r>
            <a:r>
              <a:rPr lang="en-US" dirty="0"/>
              <a:t>) as s:</a:t>
            </a:r>
          </a:p>
          <a:p>
            <a:r>
              <a:rPr lang="en-US" dirty="0"/>
              <a:t>        </a:t>
            </a:r>
            <a:r>
              <a:rPr lang="en-US" dirty="0" err="1"/>
              <a:t>s.connect</a:t>
            </a:r>
            <a:r>
              <a:rPr lang="en-US" dirty="0" smtClean="0"/>
              <a:t>((</a:t>
            </a:r>
            <a:r>
              <a:rPr lang="en-US" dirty="0"/>
              <a:t>UDP_IP</a:t>
            </a:r>
            <a:r>
              <a:rPr lang="en-US" dirty="0" smtClean="0"/>
              <a:t>, </a:t>
            </a:r>
            <a:r>
              <a:rPr lang="en-US" dirty="0"/>
              <a:t>UDP_IP</a:t>
            </a:r>
            <a:r>
              <a:rPr lang="en-US" dirty="0" smtClean="0"/>
              <a:t>))</a:t>
            </a:r>
            <a:endParaRPr lang="en-US" dirty="0"/>
          </a:p>
          <a:p>
            <a:r>
              <a:rPr lang="en-US" dirty="0"/>
              <a:t> </a:t>
            </a:r>
            <a:r>
              <a:rPr lang="en-US" dirty="0" smtClean="0"/>
              <a:t>       </a:t>
            </a:r>
            <a:r>
              <a:rPr lang="en-US" dirty="0" err="1" smtClean="0"/>
              <a:t>s.sendall</a:t>
            </a:r>
            <a:r>
              <a:rPr lang="en-US" dirty="0" smtClean="0"/>
              <a:t>(bytes(</a:t>
            </a:r>
            <a:r>
              <a:rPr lang="en-US" dirty="0" err="1" smtClean="0"/>
              <a:t>data,encoding</a:t>
            </a:r>
            <a:r>
              <a:rPr lang="en-US" dirty="0"/>
              <a:t>="utf-8</a:t>
            </a:r>
            <a:r>
              <a:rPr lang="en-US" dirty="0" smtClean="0"/>
              <a:t>"))</a:t>
            </a:r>
          </a:p>
          <a:p>
            <a:r>
              <a:rPr lang="en-US" dirty="0"/>
              <a:t> </a:t>
            </a:r>
            <a:r>
              <a:rPr lang="en-US" dirty="0" smtClean="0"/>
              <a:t>    </a:t>
            </a:r>
            <a:r>
              <a:rPr lang="en-US" dirty="0" err="1" smtClean="0"/>
              <a:t>time.sleep</a:t>
            </a:r>
            <a:r>
              <a:rPr lang="en-US" dirty="0" smtClean="0"/>
              <a:t>(0.5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506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UDP/TCP implementation in python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524000"/>
            <a:ext cx="298420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/>
              <a:t>UDP </a:t>
            </a:r>
            <a:r>
              <a:rPr lang="en-US" sz="2400" b="1" dirty="0" err="1" smtClean="0"/>
              <a:t>reciever</a:t>
            </a:r>
            <a:endParaRPr lang="en-US" sz="2400" b="1" dirty="0"/>
          </a:p>
        </p:txBody>
      </p:sp>
      <p:sp>
        <p:nvSpPr>
          <p:cNvPr id="11" name="Rectangle 10"/>
          <p:cNvSpPr/>
          <p:nvPr/>
        </p:nvSpPr>
        <p:spPr>
          <a:xfrm>
            <a:off x="657225" y="2286000"/>
            <a:ext cx="7829550" cy="368968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import </a:t>
            </a:r>
            <a:r>
              <a:rPr lang="en-US" dirty="0" smtClean="0"/>
              <a:t>socket</a:t>
            </a:r>
            <a:endParaRPr lang="en-US" dirty="0"/>
          </a:p>
          <a:p>
            <a:r>
              <a:rPr lang="en-US" dirty="0"/>
              <a:t>UDP_IP = "127.0.0.1"</a:t>
            </a:r>
          </a:p>
          <a:p>
            <a:r>
              <a:rPr lang="en-US" dirty="0"/>
              <a:t>UDP_PORT = 60000</a:t>
            </a:r>
          </a:p>
          <a:p>
            <a:endParaRPr lang="en-US" dirty="0"/>
          </a:p>
          <a:p>
            <a:r>
              <a:rPr lang="en-US" dirty="0"/>
              <a:t>sock = </a:t>
            </a:r>
            <a:r>
              <a:rPr lang="en-US" dirty="0" err="1"/>
              <a:t>socket.socket</a:t>
            </a:r>
            <a:r>
              <a:rPr lang="en-US" dirty="0"/>
              <a:t>(</a:t>
            </a:r>
            <a:r>
              <a:rPr lang="en-US" dirty="0" err="1"/>
              <a:t>socket.AF_INET</a:t>
            </a:r>
            <a:r>
              <a:rPr lang="en-US" dirty="0"/>
              <a:t>, # Internet</a:t>
            </a:r>
          </a:p>
          <a:p>
            <a:r>
              <a:rPr lang="en-US" dirty="0"/>
              <a:t>                     </a:t>
            </a:r>
            <a:r>
              <a:rPr lang="en-US" dirty="0" err="1"/>
              <a:t>socket.</a:t>
            </a:r>
            <a:r>
              <a:rPr lang="en-US" dirty="0" err="1">
                <a:solidFill>
                  <a:srgbClr val="00B050"/>
                </a:solidFill>
              </a:rPr>
              <a:t>SOCK_DGRAM</a:t>
            </a:r>
            <a:r>
              <a:rPr lang="en-US" dirty="0"/>
              <a:t>) # UDP</a:t>
            </a:r>
          </a:p>
          <a:p>
            <a:r>
              <a:rPr lang="en-US" dirty="0" err="1"/>
              <a:t>sock.bind</a:t>
            </a:r>
            <a:r>
              <a:rPr lang="en-US" dirty="0"/>
              <a:t>((UDP_IP, UDP_PORT</a:t>
            </a:r>
            <a:r>
              <a:rPr lang="en-US" dirty="0" smtClean="0"/>
              <a:t>))</a:t>
            </a:r>
            <a:endParaRPr lang="en-US" dirty="0"/>
          </a:p>
          <a:p>
            <a:r>
              <a:rPr lang="en-US" dirty="0"/>
              <a:t>while True:</a:t>
            </a:r>
          </a:p>
          <a:p>
            <a:r>
              <a:rPr lang="en-US" dirty="0"/>
              <a:t>    data, </a:t>
            </a:r>
            <a:r>
              <a:rPr lang="en-US" dirty="0" err="1"/>
              <a:t>addr</a:t>
            </a:r>
            <a:r>
              <a:rPr lang="en-US" dirty="0"/>
              <a:t> = </a:t>
            </a:r>
            <a:r>
              <a:rPr lang="en-US" dirty="0" err="1"/>
              <a:t>sock.recvfrom</a:t>
            </a:r>
            <a:r>
              <a:rPr lang="en-US" dirty="0"/>
              <a:t>(1024) # buffer size is 1024 bytes</a:t>
            </a:r>
          </a:p>
          <a:p>
            <a:r>
              <a:rPr lang="en-US" dirty="0"/>
              <a:t>    print("received message: %s" % data)</a:t>
            </a:r>
          </a:p>
          <a:p>
            <a:r>
              <a:rPr lang="en-US" dirty="0"/>
              <a:t>    # Sending a reply to client</a:t>
            </a:r>
          </a:p>
          <a:p>
            <a:r>
              <a:rPr lang="en-US" dirty="0"/>
              <a:t>    </a:t>
            </a:r>
            <a:r>
              <a:rPr lang="en-US" dirty="0" err="1"/>
              <a:t>sock.sendto</a:t>
            </a:r>
            <a:r>
              <a:rPr lang="en-US" dirty="0"/>
              <a:t>(</a:t>
            </a:r>
            <a:r>
              <a:rPr lang="en-US" dirty="0" err="1"/>
              <a:t>str.encode</a:t>
            </a:r>
            <a:r>
              <a:rPr lang="en-US" dirty="0"/>
              <a:t>("</a:t>
            </a:r>
            <a:r>
              <a:rPr lang="en-US" dirty="0" err="1"/>
              <a:t>recieved</a:t>
            </a:r>
            <a:r>
              <a:rPr lang="en-US" dirty="0"/>
              <a:t>"), </a:t>
            </a:r>
            <a:r>
              <a:rPr lang="en-US" dirty="0" err="1"/>
              <a:t>addr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7636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UDP/TCP implementation in python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524000"/>
            <a:ext cx="298420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/>
              <a:t>TCP server</a:t>
            </a:r>
            <a:endParaRPr lang="en-US" sz="2400" b="1" dirty="0"/>
          </a:p>
        </p:txBody>
      </p:sp>
      <p:sp>
        <p:nvSpPr>
          <p:cNvPr id="11" name="Rectangle 10"/>
          <p:cNvSpPr/>
          <p:nvPr/>
        </p:nvSpPr>
        <p:spPr>
          <a:xfrm>
            <a:off x="609600" y="2092027"/>
            <a:ext cx="7829550" cy="44196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 smtClean="0"/>
          </a:p>
          <a:p>
            <a:r>
              <a:rPr lang="en-US" dirty="0" smtClean="0"/>
              <a:t>import socket</a:t>
            </a:r>
          </a:p>
          <a:p>
            <a:endParaRPr lang="en-US" dirty="0" smtClean="0"/>
          </a:p>
          <a:p>
            <a:r>
              <a:rPr lang="en-US" dirty="0" smtClean="0"/>
              <a:t>with </a:t>
            </a:r>
            <a:r>
              <a:rPr lang="en-US" dirty="0" err="1"/>
              <a:t>socket.socket</a:t>
            </a:r>
            <a:r>
              <a:rPr lang="en-US" dirty="0"/>
              <a:t>(</a:t>
            </a:r>
            <a:r>
              <a:rPr lang="en-US" dirty="0" err="1"/>
              <a:t>socket.AF_INET</a:t>
            </a:r>
            <a:r>
              <a:rPr lang="en-US" dirty="0"/>
              <a:t>, </a:t>
            </a:r>
            <a:r>
              <a:rPr lang="en-US" dirty="0" err="1"/>
              <a:t>socket.</a:t>
            </a:r>
            <a:r>
              <a:rPr lang="en-US" b="1" dirty="0" err="1">
                <a:solidFill>
                  <a:srgbClr val="00B050"/>
                </a:solidFill>
              </a:rPr>
              <a:t>SOCK_STREAM</a:t>
            </a:r>
            <a:r>
              <a:rPr lang="en-US" dirty="0"/>
              <a:t>) as s:</a:t>
            </a:r>
          </a:p>
          <a:p>
            <a:r>
              <a:rPr lang="en-US" dirty="0"/>
              <a:t>        </a:t>
            </a:r>
            <a:r>
              <a:rPr lang="en-US" dirty="0" err="1"/>
              <a:t>s.bind</a:t>
            </a:r>
            <a:r>
              <a:rPr lang="en-US" dirty="0" smtClean="0"/>
              <a:t>((</a:t>
            </a:r>
            <a:r>
              <a:rPr lang="en-US" dirty="0"/>
              <a:t>"127.0.0.1" </a:t>
            </a:r>
            <a:r>
              <a:rPr lang="en-US" dirty="0" smtClean="0"/>
              <a:t>, </a:t>
            </a:r>
            <a:r>
              <a:rPr lang="en-US" dirty="0"/>
              <a:t>65432</a:t>
            </a:r>
            <a:r>
              <a:rPr lang="en-US" dirty="0" smtClean="0"/>
              <a:t>))</a:t>
            </a:r>
            <a:endParaRPr lang="en-US" dirty="0"/>
          </a:p>
          <a:p>
            <a:r>
              <a:rPr lang="en-US" dirty="0"/>
              <a:t>        while True:</a:t>
            </a:r>
          </a:p>
          <a:p>
            <a:r>
              <a:rPr lang="en-US" dirty="0"/>
              <a:t>            </a:t>
            </a:r>
            <a:r>
              <a:rPr lang="en-US" dirty="0" err="1"/>
              <a:t>s.listen</a:t>
            </a:r>
            <a:r>
              <a:rPr lang="en-US" dirty="0"/>
              <a:t>()</a:t>
            </a:r>
          </a:p>
          <a:p>
            <a:r>
              <a:rPr lang="en-US" dirty="0"/>
              <a:t>            conn, </a:t>
            </a:r>
            <a:r>
              <a:rPr lang="en-US" dirty="0" err="1"/>
              <a:t>addr</a:t>
            </a:r>
            <a:r>
              <a:rPr lang="en-US" dirty="0"/>
              <a:t> = </a:t>
            </a:r>
            <a:r>
              <a:rPr lang="en-US" dirty="0" err="1"/>
              <a:t>s.accept</a:t>
            </a:r>
            <a:r>
              <a:rPr lang="en-US" dirty="0"/>
              <a:t>()</a:t>
            </a:r>
          </a:p>
          <a:p>
            <a:r>
              <a:rPr lang="en-US" dirty="0"/>
              <a:t>            with conn:</a:t>
            </a:r>
          </a:p>
          <a:p>
            <a:r>
              <a:rPr lang="en-US" dirty="0"/>
              <a:t>                print(</a:t>
            </a:r>
            <a:r>
              <a:rPr lang="en-US" dirty="0" err="1"/>
              <a:t>f"Connected</a:t>
            </a:r>
            <a:r>
              <a:rPr lang="en-US" dirty="0"/>
              <a:t> by {</a:t>
            </a:r>
            <a:r>
              <a:rPr lang="en-US" dirty="0" err="1"/>
              <a:t>addr</a:t>
            </a:r>
            <a:r>
              <a:rPr lang="en-US" dirty="0"/>
              <a:t>}")</a:t>
            </a:r>
          </a:p>
          <a:p>
            <a:r>
              <a:rPr lang="en-US" dirty="0"/>
              <a:t>                while True:</a:t>
            </a:r>
          </a:p>
          <a:p>
            <a:r>
              <a:rPr lang="en-US" dirty="0"/>
              <a:t>                    data = </a:t>
            </a:r>
            <a:r>
              <a:rPr lang="en-US" dirty="0" err="1"/>
              <a:t>conn.recv</a:t>
            </a:r>
            <a:r>
              <a:rPr lang="en-US" dirty="0"/>
              <a:t>(1024)</a:t>
            </a:r>
          </a:p>
          <a:p>
            <a:r>
              <a:rPr lang="en-US" dirty="0"/>
              <a:t>                    if not data:</a:t>
            </a:r>
          </a:p>
          <a:p>
            <a:r>
              <a:rPr lang="en-US" dirty="0"/>
              <a:t>                        break</a:t>
            </a:r>
          </a:p>
          <a:p>
            <a:r>
              <a:rPr lang="en-US" dirty="0"/>
              <a:t>                    print("</a:t>
            </a:r>
            <a:r>
              <a:rPr lang="en-US" dirty="0" err="1"/>
              <a:t>recieved</a:t>
            </a:r>
            <a:r>
              <a:rPr lang="en-US" dirty="0"/>
              <a:t>", data)</a:t>
            </a:r>
          </a:p>
          <a:p>
            <a:r>
              <a:rPr lang="en-US" dirty="0"/>
              <a:t>                    </a:t>
            </a:r>
            <a:r>
              <a:rPr lang="en-US" dirty="0" err="1"/>
              <a:t>conn.sendall</a:t>
            </a:r>
            <a:r>
              <a:rPr lang="en-US" dirty="0"/>
              <a:t>(data)</a:t>
            </a:r>
          </a:p>
        </p:txBody>
      </p:sp>
    </p:spTree>
    <p:extLst>
      <p:ext uri="{BB962C8B-B14F-4D97-AF65-F5344CB8AC3E}">
        <p14:creationId xmlns:p14="http://schemas.microsoft.com/office/powerpoint/2010/main" val="1961648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UDP/TCP implementation in python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524000"/>
            <a:ext cx="298420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/>
              <a:t>TCP client</a:t>
            </a:r>
            <a:endParaRPr lang="en-US" sz="2400" b="1" dirty="0"/>
          </a:p>
        </p:txBody>
      </p:sp>
      <p:sp>
        <p:nvSpPr>
          <p:cNvPr id="11" name="Rectangle 10"/>
          <p:cNvSpPr/>
          <p:nvPr/>
        </p:nvSpPr>
        <p:spPr>
          <a:xfrm>
            <a:off x="657225" y="2286000"/>
            <a:ext cx="7829550" cy="368968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import </a:t>
            </a:r>
            <a:r>
              <a:rPr lang="en-US" dirty="0" smtClean="0"/>
              <a:t>socket</a:t>
            </a:r>
          </a:p>
          <a:p>
            <a:r>
              <a:rPr lang="en-US" dirty="0" smtClean="0"/>
              <a:t>Import </a:t>
            </a:r>
            <a:r>
              <a:rPr lang="en-US" dirty="0" err="1" smtClean="0"/>
              <a:t>json</a:t>
            </a:r>
            <a:endParaRPr lang="en-US" dirty="0"/>
          </a:p>
          <a:p>
            <a:r>
              <a:rPr lang="en-US" dirty="0"/>
              <a:t>while True:</a:t>
            </a:r>
          </a:p>
          <a:p>
            <a:r>
              <a:rPr lang="en-US" dirty="0"/>
              <a:t>    </a:t>
            </a:r>
            <a:r>
              <a:rPr lang="en-US" dirty="0" err="1"/>
              <a:t>msg</a:t>
            </a:r>
            <a:r>
              <a:rPr lang="en-US" dirty="0"/>
              <a:t> = input("message")</a:t>
            </a:r>
          </a:p>
          <a:p>
            <a:r>
              <a:rPr lang="en-US" dirty="0"/>
              <a:t>    m = {"</a:t>
            </a:r>
            <a:r>
              <a:rPr lang="en-US" dirty="0" err="1"/>
              <a:t>type":"info</a:t>
            </a:r>
            <a:r>
              <a:rPr lang="en-US" dirty="0"/>
              <a:t>", "id": 2, "name": "</a:t>
            </a:r>
            <a:r>
              <a:rPr lang="en-US" dirty="0" err="1"/>
              <a:t>abc</a:t>
            </a:r>
            <a:r>
              <a:rPr lang="en-US" dirty="0"/>
              <a:t>", "</a:t>
            </a:r>
            <a:r>
              <a:rPr lang="en-US" dirty="0" err="1"/>
              <a:t>msg</a:t>
            </a:r>
            <a:r>
              <a:rPr lang="en-US" dirty="0"/>
              <a:t>":</a:t>
            </a:r>
            <a:r>
              <a:rPr lang="en-US" dirty="0" err="1"/>
              <a:t>msg</a:t>
            </a:r>
            <a:r>
              <a:rPr lang="en-US" dirty="0"/>
              <a:t>} # a real </a:t>
            </a:r>
            <a:r>
              <a:rPr lang="en-US" dirty="0" err="1"/>
              <a:t>dict</a:t>
            </a:r>
            <a:endParaRPr lang="en-US" dirty="0"/>
          </a:p>
          <a:p>
            <a:r>
              <a:rPr lang="en-US" dirty="0"/>
              <a:t>    data = </a:t>
            </a:r>
            <a:r>
              <a:rPr lang="en-US" dirty="0" err="1"/>
              <a:t>json.dumps</a:t>
            </a:r>
            <a:r>
              <a:rPr lang="en-US" dirty="0"/>
              <a:t>(m)</a:t>
            </a:r>
          </a:p>
          <a:p>
            <a:r>
              <a:rPr lang="en-US" dirty="0"/>
              <a:t>    with </a:t>
            </a:r>
            <a:r>
              <a:rPr lang="en-US" dirty="0" err="1"/>
              <a:t>socket.socket</a:t>
            </a:r>
            <a:r>
              <a:rPr lang="en-US" dirty="0"/>
              <a:t>(</a:t>
            </a:r>
            <a:r>
              <a:rPr lang="en-US" dirty="0" err="1"/>
              <a:t>socket.AF_INET</a:t>
            </a:r>
            <a:r>
              <a:rPr lang="en-US" dirty="0"/>
              <a:t>, </a:t>
            </a:r>
            <a:r>
              <a:rPr lang="en-US" dirty="0" err="1"/>
              <a:t>socket.</a:t>
            </a:r>
            <a:r>
              <a:rPr lang="en-US" dirty="0" err="1">
                <a:solidFill>
                  <a:srgbClr val="00B050"/>
                </a:solidFill>
              </a:rPr>
              <a:t>SOCK_STREAM</a:t>
            </a:r>
            <a:r>
              <a:rPr lang="en-US" dirty="0"/>
              <a:t>) as s:</a:t>
            </a:r>
          </a:p>
          <a:p>
            <a:r>
              <a:rPr lang="en-US" dirty="0"/>
              <a:t>        </a:t>
            </a:r>
            <a:r>
              <a:rPr lang="en-US" dirty="0" err="1"/>
              <a:t>s.connect</a:t>
            </a:r>
            <a:r>
              <a:rPr lang="en-US" dirty="0"/>
              <a:t>(("127.0.0.1", 65432))</a:t>
            </a:r>
          </a:p>
          <a:p>
            <a:r>
              <a:rPr lang="en-US" dirty="0"/>
              <a:t>        </a:t>
            </a:r>
            <a:r>
              <a:rPr lang="en-US" dirty="0" err="1"/>
              <a:t>s.sendall</a:t>
            </a:r>
            <a:r>
              <a:rPr lang="en-US" dirty="0"/>
              <a:t>(bytes(</a:t>
            </a:r>
            <a:r>
              <a:rPr lang="en-US" dirty="0" err="1"/>
              <a:t>data,encoding</a:t>
            </a:r>
            <a:r>
              <a:rPr lang="en-US" dirty="0"/>
              <a:t>="utf-8"))</a:t>
            </a:r>
          </a:p>
          <a:p>
            <a:r>
              <a:rPr lang="en-US" dirty="0"/>
              <a:t>        data = </a:t>
            </a:r>
            <a:r>
              <a:rPr lang="en-US" dirty="0" err="1"/>
              <a:t>s.recv</a:t>
            </a:r>
            <a:r>
              <a:rPr lang="en-US" dirty="0"/>
              <a:t>(2048)</a:t>
            </a:r>
          </a:p>
          <a:p>
            <a:r>
              <a:rPr lang="en-US" dirty="0"/>
              <a:t>    print(</a:t>
            </a:r>
            <a:r>
              <a:rPr lang="en-US" dirty="0" err="1"/>
              <a:t>f"Received</a:t>
            </a:r>
            <a:r>
              <a:rPr lang="en-US" dirty="0"/>
              <a:t> {</a:t>
            </a:r>
            <a:r>
              <a:rPr lang="en-US" dirty="0" err="1"/>
              <a:t>data!r</a:t>
            </a:r>
            <a:r>
              <a:rPr lang="en-US" dirty="0"/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3356661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17638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HTTP vs. Websocket</a:t>
            </a:r>
            <a:endParaRPr lang="ru-RU" sz="4400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2050" name="Picture 2" descr="https://dz2cdn1.dzone.com/storage/temp/15596463-websocketsvshttp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086757"/>
            <a:ext cx="7435980" cy="575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4732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5004</TotalTime>
  <Words>2231</Words>
  <Application>Microsoft Office PowerPoint</Application>
  <PresentationFormat>On-screen Show (4:3)</PresentationFormat>
  <Paragraphs>557</Paragraphs>
  <Slides>37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Arial</vt:lpstr>
      <vt:lpstr>Calibri</vt:lpstr>
      <vt:lpstr>Open Sans</vt:lpstr>
      <vt:lpstr>Symbol</vt:lpstr>
      <vt:lpstr>Times New Roman</vt:lpstr>
      <vt:lpstr>var(--ds-font-family-code)</vt:lpstr>
      <vt:lpstr>Wingdings</vt:lpstr>
      <vt:lpstr>Тема Office</vt:lpstr>
      <vt:lpstr>LAB IOT Cloud Platforms</vt:lpstr>
      <vt:lpstr>Flow-programming</vt:lpstr>
      <vt:lpstr>Node-RED</vt:lpstr>
      <vt:lpstr>Node-RED installation</vt:lpstr>
      <vt:lpstr> JavaScript Object Notation (JSON)</vt:lpstr>
      <vt:lpstr>Node-RED</vt:lpstr>
      <vt:lpstr>Report</vt:lpstr>
      <vt:lpstr>PowerPoint Presentation</vt:lpstr>
      <vt:lpstr>Hypertext Transfer Protocol (HTTP)</vt:lpstr>
      <vt:lpstr>Variable types in Node-Red </vt:lpstr>
      <vt:lpstr>Task1</vt:lpstr>
      <vt:lpstr>Task1</vt:lpstr>
      <vt:lpstr>Task2</vt:lpstr>
      <vt:lpstr>Message Queuing Telemetry Transport (MQTT).</vt:lpstr>
      <vt:lpstr>Message Queuing Telemetry Transport (MQTT).</vt:lpstr>
      <vt:lpstr>Task3</vt:lpstr>
      <vt:lpstr>Task3</vt:lpstr>
      <vt:lpstr>Homework1</vt:lpstr>
      <vt:lpstr>Homework2</vt:lpstr>
      <vt:lpstr>Grading</vt:lpstr>
      <vt:lpstr>Basic nodes</vt:lpstr>
      <vt:lpstr>IoT cloud platforms</vt:lpstr>
      <vt:lpstr>External links</vt:lpstr>
      <vt:lpstr>PowerPoint Presentation</vt:lpstr>
      <vt:lpstr>PowerPoint Presentation</vt:lpstr>
      <vt:lpstr>Network basics</vt:lpstr>
      <vt:lpstr>Hypertext Transfer Protocol (HTTP)</vt:lpstr>
      <vt:lpstr>Hypertext Transfer Protocol (HTTP)</vt:lpstr>
      <vt:lpstr>Transmission Control Protocol(TCP) vs User Datagram Protocol (UDP)</vt:lpstr>
      <vt:lpstr>Transmission Control Protocol(TCP) vs User Datagram Protocol (UDP)</vt:lpstr>
      <vt:lpstr>HTTP vs. MQTT</vt:lpstr>
      <vt:lpstr>Hypertext Transfer Protocol (HTTP)</vt:lpstr>
      <vt:lpstr>UDP/TCP implementation in python</vt:lpstr>
      <vt:lpstr>UDP/TCP implementation in python</vt:lpstr>
      <vt:lpstr>UDP/TCP implementation in python</vt:lpstr>
      <vt:lpstr>UDP/TCP implementation in python</vt:lpstr>
      <vt:lpstr>HTTP vs. Websocket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LAB1 Analog Lab</dc:title>
  <dc:creator>admin</dc:creator>
  <cp:lastModifiedBy>Mohammed Hammoud</cp:lastModifiedBy>
  <cp:revision>412</cp:revision>
  <dcterms:created xsi:type="dcterms:W3CDTF">2020-03-16T12:38:15Z</dcterms:created>
  <dcterms:modified xsi:type="dcterms:W3CDTF">2026-02-27T19:06:00Z</dcterms:modified>
</cp:coreProperties>
</file>